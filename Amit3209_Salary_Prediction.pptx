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venir" panose="020B0604020202020204" charset="0"/>
      <p:regular r:id="rId11"/>
    </p:embeddedFont>
    <p:embeddedFont>
      <p:font typeface="Inter" panose="020B0604020202020204" charset="0"/>
      <p:regular r:id="rId12"/>
    </p:embeddedFont>
    <p:embeddedFont>
      <p:font typeface="Neue Montreal" panose="020B0604020202020204" charset="0"/>
      <p:regular r:id="rId13"/>
    </p:embeddedFont>
    <p:embeddedFont>
      <p:font typeface="Neue Montreal Bold" panose="020B0604020202020204" charset="0"/>
      <p:regular r:id="rId14"/>
    </p:embeddedFont>
    <p:embeddedFont>
      <p:font typeface="Open Sans" panose="020B0606030504020204" pitchFamily="3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66"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Freeform 2"/>
          <p:cNvSpPr/>
          <p:nvPr/>
        </p:nvSpPr>
        <p:spPr>
          <a:xfrm rot="-207148">
            <a:off x="-3858935" y="-5190012"/>
            <a:ext cx="18571789" cy="9525780"/>
          </a:xfrm>
          <a:custGeom>
            <a:avLst/>
            <a:gdLst/>
            <a:ahLst/>
            <a:cxnLst/>
            <a:rect l="l" t="t" r="r" b="b"/>
            <a:pathLst>
              <a:path w="18571789" h="9525780">
                <a:moveTo>
                  <a:pt x="0" y="0"/>
                </a:moveTo>
                <a:lnTo>
                  <a:pt x="18571789" y="0"/>
                </a:lnTo>
                <a:lnTo>
                  <a:pt x="18571789" y="9525780"/>
                </a:lnTo>
                <a:lnTo>
                  <a:pt x="0" y="952578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519681">
            <a:off x="5110297" y="2309422"/>
            <a:ext cx="18571789" cy="9525780"/>
          </a:xfrm>
          <a:custGeom>
            <a:avLst/>
            <a:gdLst/>
            <a:ahLst/>
            <a:cxnLst/>
            <a:rect l="l" t="t" r="r" b="b"/>
            <a:pathLst>
              <a:path w="18571789" h="9525780">
                <a:moveTo>
                  <a:pt x="0" y="0"/>
                </a:moveTo>
                <a:lnTo>
                  <a:pt x="18571789" y="0"/>
                </a:lnTo>
                <a:lnTo>
                  <a:pt x="18571789" y="9525781"/>
                </a:lnTo>
                <a:lnTo>
                  <a:pt x="0" y="9525781"/>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4275761" y="1344472"/>
            <a:ext cx="240861" cy="24086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8" name="TextBox 8"/>
          <p:cNvSpPr txBox="1"/>
          <p:nvPr/>
        </p:nvSpPr>
        <p:spPr>
          <a:xfrm>
            <a:off x="1139689" y="1599484"/>
            <a:ext cx="11408434" cy="2736791"/>
          </a:xfrm>
          <a:prstGeom prst="rect">
            <a:avLst/>
          </a:prstGeom>
        </p:spPr>
        <p:txBody>
          <a:bodyPr lIns="0" tIns="0" rIns="0" bIns="0" rtlCol="0" anchor="t">
            <a:spAutoFit/>
          </a:bodyPr>
          <a:lstStyle/>
          <a:p>
            <a:pPr algn="l">
              <a:lnSpc>
                <a:spcPts val="22399"/>
              </a:lnSpc>
            </a:pPr>
            <a:r>
              <a:rPr lang="en-US" sz="15999" dirty="0">
                <a:solidFill>
                  <a:srgbClr val="FFFFFF"/>
                </a:solidFill>
                <a:latin typeface="Neue Montreal"/>
                <a:ea typeface="Neue Montreal"/>
                <a:cs typeface="Neue Montreal"/>
                <a:sym typeface="Neue Montreal"/>
              </a:rPr>
              <a:t>Salary </a:t>
            </a:r>
          </a:p>
        </p:txBody>
      </p:sp>
      <p:sp>
        <p:nvSpPr>
          <p:cNvPr id="9" name="TextBox 9"/>
          <p:cNvSpPr txBox="1"/>
          <p:nvPr/>
        </p:nvSpPr>
        <p:spPr>
          <a:xfrm>
            <a:off x="6194866" y="7325597"/>
            <a:ext cx="2620767" cy="422216"/>
          </a:xfrm>
          <a:prstGeom prst="rect">
            <a:avLst/>
          </a:prstGeom>
        </p:spPr>
        <p:txBody>
          <a:bodyPr lIns="0" tIns="0" rIns="0" bIns="0" rtlCol="0" anchor="t">
            <a:spAutoFit/>
          </a:bodyPr>
          <a:lstStyle/>
          <a:p>
            <a:pPr algn="l">
              <a:lnSpc>
                <a:spcPts val="3499"/>
              </a:lnSpc>
            </a:pPr>
            <a:r>
              <a:rPr lang="en-US" sz="2499" b="1" dirty="0">
                <a:solidFill>
                  <a:srgbClr val="68DE68"/>
                </a:solidFill>
                <a:latin typeface="Neue Montreal Bold"/>
                <a:ea typeface="Neue Montreal Bold"/>
                <a:cs typeface="Neue Montreal Bold"/>
                <a:sym typeface="Neue Montreal Bold"/>
              </a:rPr>
              <a:t>Guide Name</a:t>
            </a:r>
          </a:p>
        </p:txBody>
      </p:sp>
      <p:sp>
        <p:nvSpPr>
          <p:cNvPr id="10" name="TextBox 10"/>
          <p:cNvSpPr txBox="1"/>
          <p:nvPr/>
        </p:nvSpPr>
        <p:spPr>
          <a:xfrm>
            <a:off x="1376038" y="7331521"/>
            <a:ext cx="2620767" cy="410369"/>
          </a:xfrm>
          <a:prstGeom prst="rect">
            <a:avLst/>
          </a:prstGeom>
        </p:spPr>
        <p:txBody>
          <a:bodyPr lIns="0" tIns="0" rIns="0" bIns="0" rtlCol="0" anchor="t">
            <a:spAutoFit/>
          </a:bodyPr>
          <a:lstStyle/>
          <a:p>
            <a:pPr algn="l">
              <a:lnSpc>
                <a:spcPts val="3499"/>
              </a:lnSpc>
            </a:pPr>
            <a:r>
              <a:rPr lang="en-US" sz="2499" b="1" dirty="0">
                <a:solidFill>
                  <a:srgbClr val="68DE68"/>
                </a:solidFill>
                <a:latin typeface="Neue Montreal Bold"/>
                <a:ea typeface="Neue Montreal Bold"/>
                <a:cs typeface="Neue Montreal Bold"/>
                <a:sym typeface="Neue Montreal Bold"/>
              </a:rPr>
              <a:t>Name</a:t>
            </a:r>
          </a:p>
        </p:txBody>
      </p:sp>
      <p:sp>
        <p:nvSpPr>
          <p:cNvPr id="11" name="TextBox 11"/>
          <p:cNvSpPr txBox="1"/>
          <p:nvPr/>
        </p:nvSpPr>
        <p:spPr>
          <a:xfrm>
            <a:off x="1376038" y="7725494"/>
            <a:ext cx="2936653" cy="411972"/>
          </a:xfrm>
          <a:prstGeom prst="rect">
            <a:avLst/>
          </a:prstGeom>
        </p:spPr>
        <p:txBody>
          <a:bodyPr wrap="square" lIns="0" tIns="0" rIns="0" bIns="0" rtlCol="0" anchor="t">
            <a:spAutoFit/>
          </a:bodyPr>
          <a:lstStyle/>
          <a:p>
            <a:pPr algn="l">
              <a:lnSpc>
                <a:spcPts val="3499"/>
              </a:lnSpc>
            </a:pPr>
            <a:r>
              <a:rPr lang="en-US" sz="2499" dirty="0">
                <a:solidFill>
                  <a:srgbClr val="FFFFFF"/>
                </a:solidFill>
                <a:latin typeface="Inter"/>
                <a:ea typeface="Inter"/>
                <a:cs typeface="Inter"/>
                <a:sym typeface="Inter"/>
              </a:rPr>
              <a:t>Amit Kumar Singh</a:t>
            </a:r>
          </a:p>
        </p:txBody>
      </p:sp>
      <p:sp>
        <p:nvSpPr>
          <p:cNvPr id="12" name="TextBox 12"/>
          <p:cNvSpPr txBox="1"/>
          <p:nvPr/>
        </p:nvSpPr>
        <p:spPr>
          <a:xfrm>
            <a:off x="6226318" y="7715250"/>
            <a:ext cx="3712370" cy="422216"/>
          </a:xfrm>
          <a:prstGeom prst="rect">
            <a:avLst/>
          </a:prstGeom>
        </p:spPr>
        <p:txBody>
          <a:bodyPr lIns="0" tIns="0" rIns="0" bIns="0" rtlCol="0" anchor="t">
            <a:spAutoFit/>
          </a:bodyPr>
          <a:lstStyle/>
          <a:p>
            <a:pPr algn="l">
              <a:lnSpc>
                <a:spcPts val="3499"/>
              </a:lnSpc>
            </a:pPr>
            <a:r>
              <a:rPr lang="en-US" sz="2499" dirty="0">
                <a:solidFill>
                  <a:srgbClr val="FFFFFF"/>
                </a:solidFill>
                <a:latin typeface="Inter"/>
                <a:ea typeface="Inter"/>
                <a:cs typeface="Inter"/>
                <a:sym typeface="Inter"/>
              </a:rPr>
              <a:t>Himanshu Souda</a:t>
            </a:r>
          </a:p>
        </p:txBody>
      </p:sp>
      <p:sp>
        <p:nvSpPr>
          <p:cNvPr id="13" name="TextBox 13"/>
          <p:cNvSpPr txBox="1"/>
          <p:nvPr/>
        </p:nvSpPr>
        <p:spPr>
          <a:xfrm>
            <a:off x="762000" y="3639501"/>
            <a:ext cx="11977756" cy="2736791"/>
          </a:xfrm>
          <a:prstGeom prst="rect">
            <a:avLst/>
          </a:prstGeom>
        </p:spPr>
        <p:txBody>
          <a:bodyPr lIns="0" tIns="0" rIns="0" bIns="0" rtlCol="0" anchor="t">
            <a:spAutoFit/>
          </a:bodyPr>
          <a:lstStyle/>
          <a:p>
            <a:pPr algn="l">
              <a:lnSpc>
                <a:spcPts val="22399"/>
              </a:lnSpc>
            </a:pPr>
            <a:r>
              <a:rPr lang="en-US" sz="15999" dirty="0">
                <a:solidFill>
                  <a:srgbClr val="FFFFFF"/>
                </a:solidFill>
                <a:latin typeface="Neue Montreal"/>
                <a:ea typeface="Neue Montreal"/>
                <a:cs typeface="Neue Montreal"/>
                <a:sym typeface="Neue Montreal"/>
              </a:rPr>
              <a:t> Prediction</a:t>
            </a:r>
          </a:p>
        </p:txBody>
      </p:sp>
      <p:sp>
        <p:nvSpPr>
          <p:cNvPr id="14" name="TextBox 14"/>
          <p:cNvSpPr txBox="1"/>
          <p:nvPr/>
        </p:nvSpPr>
        <p:spPr>
          <a:xfrm>
            <a:off x="1226775" y="5960972"/>
            <a:ext cx="6629724" cy="830640"/>
          </a:xfrm>
          <a:prstGeom prst="rect">
            <a:avLst/>
          </a:prstGeom>
        </p:spPr>
        <p:txBody>
          <a:bodyPr lIns="0" tIns="0" rIns="0" bIns="0" rtlCol="0" anchor="t">
            <a:spAutoFit/>
          </a:bodyPr>
          <a:lstStyle/>
          <a:p>
            <a:pPr algn="l">
              <a:lnSpc>
                <a:spcPts val="6719"/>
              </a:lnSpc>
            </a:pPr>
            <a:r>
              <a:rPr lang="en-US" sz="4800" dirty="0">
                <a:solidFill>
                  <a:srgbClr val="FFFFFF"/>
                </a:solidFill>
                <a:latin typeface="Neue Montreal"/>
                <a:ea typeface="Neue Montreal"/>
                <a:cs typeface="Neue Montreal"/>
                <a:sym typeface="Neue Montreal"/>
              </a:rPr>
              <a:t>using linear regression</a:t>
            </a:r>
          </a:p>
        </p:txBody>
      </p:sp>
      <p:sp>
        <p:nvSpPr>
          <p:cNvPr id="15" name="TextBox 15"/>
          <p:cNvSpPr txBox="1"/>
          <p:nvPr/>
        </p:nvSpPr>
        <p:spPr>
          <a:xfrm>
            <a:off x="2043076" y="1151962"/>
            <a:ext cx="3495749" cy="481271"/>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FFFFFF"/>
                </a:solidFill>
                <a:latin typeface="Neue Montreal Bold"/>
                <a:ea typeface="Neue Montreal Bold"/>
                <a:cs typeface="Neue Montreal Bold"/>
                <a:sym typeface="Neue Montreal Bold"/>
              </a:rPr>
              <a:t>Salary Prediction </a:t>
            </a:r>
          </a:p>
        </p:txBody>
      </p:sp>
      <p:sp>
        <p:nvSpPr>
          <p:cNvPr id="16" name="TextBox 16"/>
          <p:cNvSpPr txBox="1"/>
          <p:nvPr/>
        </p:nvSpPr>
        <p:spPr>
          <a:xfrm>
            <a:off x="11182735" y="1146470"/>
            <a:ext cx="5629700" cy="348379"/>
          </a:xfrm>
          <a:prstGeom prst="rect">
            <a:avLst/>
          </a:prstGeom>
        </p:spPr>
        <p:txBody>
          <a:bodyPr lIns="0" tIns="0" rIns="0" bIns="0" rtlCol="0" anchor="t">
            <a:spAutoFit/>
          </a:bodyPr>
          <a:lstStyle/>
          <a:p>
            <a:pPr marL="0" lvl="0" indent="0" algn="r">
              <a:lnSpc>
                <a:spcPts val="2844"/>
              </a:lnSpc>
              <a:spcBef>
                <a:spcPct val="0"/>
              </a:spcBef>
            </a:pPr>
            <a:r>
              <a:rPr lang="en-US" sz="2031">
                <a:solidFill>
                  <a:srgbClr val="0D0D0D"/>
                </a:solidFill>
                <a:latin typeface="Neue Montreal"/>
                <a:ea typeface="Neue Montreal"/>
                <a:cs typeface="Neue Montreal"/>
                <a:sym typeface="Neue Montreal"/>
              </a:rPr>
              <a:t>Artificial  Intelligence and MA</a:t>
            </a:r>
          </a:p>
        </p:txBody>
      </p:sp>
      <p:sp>
        <p:nvSpPr>
          <p:cNvPr id="17" name="TextBox 16">
            <a:extLst>
              <a:ext uri="{FF2B5EF4-FFF2-40B4-BE49-F238E27FC236}">
                <a16:creationId xmlns:a16="http://schemas.microsoft.com/office/drawing/2014/main" id="{7140FC2D-3456-21D0-583C-B6321514E41E}"/>
              </a:ext>
            </a:extLst>
          </p:cNvPr>
          <p:cNvSpPr txBox="1"/>
          <p:nvPr/>
        </p:nvSpPr>
        <p:spPr>
          <a:xfrm>
            <a:off x="1189018" y="8836587"/>
            <a:ext cx="3992582" cy="461665"/>
          </a:xfrm>
          <a:prstGeom prst="rect">
            <a:avLst/>
          </a:prstGeom>
          <a:noFill/>
        </p:spPr>
        <p:txBody>
          <a:bodyPr wrap="square" rtlCol="0">
            <a:spAutoFit/>
          </a:bodyPr>
          <a:lstStyle/>
          <a:p>
            <a:r>
              <a:rPr lang="en-US" dirty="0">
                <a:solidFill>
                  <a:srgbClr val="FFFFFF"/>
                </a:solidFill>
                <a:latin typeface="Inter"/>
                <a:ea typeface="Inter"/>
                <a:cs typeface="Inter"/>
                <a:sym typeface="Inter"/>
              </a:rPr>
              <a:t> </a:t>
            </a:r>
            <a:r>
              <a:rPr lang="en-US" sz="2400" dirty="0">
                <a:solidFill>
                  <a:srgbClr val="FFFFFF"/>
                </a:solidFill>
                <a:latin typeface="Inter"/>
                <a:ea typeface="Inter"/>
                <a:cs typeface="Inter"/>
                <a:sym typeface="Inter"/>
              </a:rPr>
              <a:t>Techno India University</a:t>
            </a:r>
            <a:endParaRPr lang="en-IN" sz="2400" dirty="0"/>
          </a:p>
        </p:txBody>
      </p:sp>
      <p:sp>
        <p:nvSpPr>
          <p:cNvPr id="18" name="TextBox 17">
            <a:extLst>
              <a:ext uri="{FF2B5EF4-FFF2-40B4-BE49-F238E27FC236}">
                <a16:creationId xmlns:a16="http://schemas.microsoft.com/office/drawing/2014/main" id="{2C17749C-C182-B4E5-2A1E-BD2BD9A2DCCC}"/>
              </a:ext>
            </a:extLst>
          </p:cNvPr>
          <p:cNvSpPr txBox="1"/>
          <p:nvPr/>
        </p:nvSpPr>
        <p:spPr>
          <a:xfrm>
            <a:off x="1275997" y="8351423"/>
            <a:ext cx="2589315" cy="499752"/>
          </a:xfrm>
          <a:prstGeom prst="rect">
            <a:avLst/>
          </a:prstGeom>
          <a:noFill/>
        </p:spPr>
        <p:txBody>
          <a:bodyPr wrap="square" rtlCol="0">
            <a:spAutoFit/>
          </a:bodyPr>
          <a:lstStyle/>
          <a:p>
            <a:pPr>
              <a:lnSpc>
                <a:spcPts val="3499"/>
              </a:lnSpc>
            </a:pPr>
            <a:r>
              <a:rPr lang="en-US" sz="2400" b="1" dirty="0">
                <a:solidFill>
                  <a:srgbClr val="68DE68"/>
                </a:solidFill>
                <a:latin typeface="Neue Montreal Bold"/>
                <a:ea typeface="Neue Montreal Bold"/>
                <a:cs typeface="Neue Montreal Bold"/>
                <a:sym typeface="Neue Montreal Bold"/>
              </a:rPr>
              <a:t>College</a:t>
            </a:r>
          </a:p>
        </p:txBody>
      </p:sp>
      <p:pic>
        <p:nvPicPr>
          <p:cNvPr id="1026" name="Picture 2" descr="Predicting Salary Using Data Science: A Comprehensive Analysis.pdf">
            <a:extLst>
              <a:ext uri="{FF2B5EF4-FFF2-40B4-BE49-F238E27FC236}">
                <a16:creationId xmlns:a16="http://schemas.microsoft.com/office/drawing/2014/main" id="{C0D55E15-3347-935F-27D6-B7519BA166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50986" y="1950004"/>
            <a:ext cx="7837014" cy="62686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8DE68"/>
        </a:solidFill>
        <a:effectLst/>
      </p:bgPr>
    </p:bg>
    <p:spTree>
      <p:nvGrpSpPr>
        <p:cNvPr id="1" name=""/>
        <p:cNvGrpSpPr/>
        <p:nvPr/>
      </p:nvGrpSpPr>
      <p:grpSpPr>
        <a:xfrm>
          <a:off x="0" y="0"/>
          <a:ext cx="0" cy="0"/>
          <a:chOff x="0" y="0"/>
          <a:chExt cx="0" cy="0"/>
        </a:xfrm>
      </p:grpSpPr>
      <p:sp>
        <p:nvSpPr>
          <p:cNvPr id="2" name="Freeform 2"/>
          <p:cNvSpPr/>
          <p:nvPr/>
        </p:nvSpPr>
        <p:spPr>
          <a:xfrm rot="-7647213">
            <a:off x="4466835" y="-994875"/>
            <a:ext cx="20219053" cy="10370689"/>
          </a:xfrm>
          <a:custGeom>
            <a:avLst/>
            <a:gdLst/>
            <a:ahLst/>
            <a:cxnLst/>
            <a:rect l="l" t="t" r="r" b="b"/>
            <a:pathLst>
              <a:path w="20219053" h="10370689">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3007302"/>
            <a:ext cx="10480051" cy="1783714"/>
          </a:xfrm>
          <a:prstGeom prst="rect">
            <a:avLst/>
          </a:prstGeom>
        </p:spPr>
        <p:txBody>
          <a:bodyPr lIns="0" tIns="0" rIns="0" bIns="0" rtlCol="0" anchor="t">
            <a:spAutoFit/>
          </a:bodyPr>
          <a:lstStyle/>
          <a:p>
            <a:pPr algn="l">
              <a:lnSpc>
                <a:spcPts val="14560"/>
              </a:lnSpc>
            </a:pPr>
            <a:r>
              <a:rPr lang="en-US" sz="10400">
                <a:solidFill>
                  <a:srgbClr val="0D0D0D"/>
                </a:solidFill>
                <a:latin typeface="Neue Montreal"/>
                <a:ea typeface="Neue Montreal"/>
                <a:cs typeface="Neue Montreal"/>
                <a:sym typeface="Neue Montreal"/>
              </a:rPr>
              <a:t>Agenda</a:t>
            </a:r>
          </a:p>
        </p:txBody>
      </p:sp>
      <p:grpSp>
        <p:nvGrpSpPr>
          <p:cNvPr id="4" name="Group 4"/>
          <p:cNvGrpSpPr/>
          <p:nvPr/>
        </p:nvGrpSpPr>
        <p:grpSpPr>
          <a:xfrm>
            <a:off x="1028700" y="6362700"/>
            <a:ext cx="5067300" cy="784945"/>
            <a:chOff x="0" y="0"/>
            <a:chExt cx="1334598" cy="206735"/>
          </a:xfrm>
        </p:grpSpPr>
        <p:sp>
          <p:nvSpPr>
            <p:cNvPr id="5" name="Freeform 5"/>
            <p:cNvSpPr/>
            <p:nvPr/>
          </p:nvSpPr>
          <p:spPr>
            <a:xfrm>
              <a:off x="0" y="0"/>
              <a:ext cx="1334598" cy="206735"/>
            </a:xfrm>
            <a:custGeom>
              <a:avLst/>
              <a:gdLst/>
              <a:ahLst/>
              <a:cxnLst/>
              <a:rect l="l" t="t" r="r" b="b"/>
              <a:pathLst>
                <a:path w="1334598" h="206735">
                  <a:moveTo>
                    <a:pt x="103367" y="0"/>
                  </a:moveTo>
                  <a:lnTo>
                    <a:pt x="1231230" y="0"/>
                  </a:lnTo>
                  <a:cubicBezTo>
                    <a:pt x="1258645" y="0"/>
                    <a:pt x="1284937" y="10890"/>
                    <a:pt x="1304322" y="30276"/>
                  </a:cubicBezTo>
                  <a:cubicBezTo>
                    <a:pt x="1323707" y="49661"/>
                    <a:pt x="1334598" y="75953"/>
                    <a:pt x="1334598" y="103367"/>
                  </a:cubicBezTo>
                  <a:lnTo>
                    <a:pt x="1334598" y="103367"/>
                  </a:lnTo>
                  <a:cubicBezTo>
                    <a:pt x="1334598" y="130782"/>
                    <a:pt x="1323707" y="157074"/>
                    <a:pt x="1304322" y="176459"/>
                  </a:cubicBezTo>
                  <a:cubicBezTo>
                    <a:pt x="1284937" y="195844"/>
                    <a:pt x="1258645" y="206735"/>
                    <a:pt x="1231230"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FFFFFF"/>
            </a:solidFill>
          </p:spPr>
        </p:sp>
        <p:sp>
          <p:nvSpPr>
            <p:cNvPr id="6" name="TextBox 6"/>
            <p:cNvSpPr txBox="1"/>
            <p:nvPr/>
          </p:nvSpPr>
          <p:spPr>
            <a:xfrm>
              <a:off x="0" y="-38100"/>
              <a:ext cx="1334598" cy="244835"/>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1028700" y="7415533"/>
            <a:ext cx="3486130" cy="784945"/>
            <a:chOff x="0" y="0"/>
            <a:chExt cx="918158" cy="206735"/>
          </a:xfrm>
        </p:grpSpPr>
        <p:sp>
          <p:nvSpPr>
            <p:cNvPr id="8" name="Freeform 8"/>
            <p:cNvSpPr/>
            <p:nvPr/>
          </p:nvSpPr>
          <p:spPr>
            <a:xfrm>
              <a:off x="0" y="0"/>
              <a:ext cx="918158" cy="206735"/>
            </a:xfrm>
            <a:custGeom>
              <a:avLst/>
              <a:gdLst/>
              <a:ahLst/>
              <a:cxnLst/>
              <a:rect l="l" t="t" r="r" b="b"/>
              <a:pathLst>
                <a:path w="918158" h="206735">
                  <a:moveTo>
                    <a:pt x="103367" y="0"/>
                  </a:moveTo>
                  <a:lnTo>
                    <a:pt x="814791" y="0"/>
                  </a:lnTo>
                  <a:cubicBezTo>
                    <a:pt x="842205" y="0"/>
                    <a:pt x="868497" y="10890"/>
                    <a:pt x="887882" y="30276"/>
                  </a:cubicBezTo>
                  <a:cubicBezTo>
                    <a:pt x="907267" y="49661"/>
                    <a:pt x="918158" y="75953"/>
                    <a:pt x="918158" y="103367"/>
                  </a:cubicBezTo>
                  <a:lnTo>
                    <a:pt x="918158" y="103367"/>
                  </a:lnTo>
                  <a:cubicBezTo>
                    <a:pt x="918158" y="130782"/>
                    <a:pt x="907267" y="157074"/>
                    <a:pt x="887882" y="176459"/>
                  </a:cubicBezTo>
                  <a:cubicBezTo>
                    <a:pt x="868497" y="195844"/>
                    <a:pt x="842205" y="206735"/>
                    <a:pt x="814791"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41CF41"/>
            </a:solidFill>
          </p:spPr>
        </p:sp>
        <p:sp>
          <p:nvSpPr>
            <p:cNvPr id="9" name="TextBox 9"/>
            <p:cNvSpPr txBox="1"/>
            <p:nvPr/>
          </p:nvSpPr>
          <p:spPr>
            <a:xfrm>
              <a:off x="0" y="-38100"/>
              <a:ext cx="918158" cy="244835"/>
            </a:xfrm>
            <a:prstGeom prst="rect">
              <a:avLst/>
            </a:prstGeom>
          </p:spPr>
          <p:txBody>
            <a:bodyPr lIns="50800" tIns="50800" rIns="50800" bIns="50800" rtlCol="0" anchor="ctr"/>
            <a:lstStyle/>
            <a:p>
              <a:pPr algn="ctr">
                <a:lnSpc>
                  <a:spcPts val="2520"/>
                </a:lnSpc>
              </a:pPr>
              <a:endParaRPr/>
            </a:p>
          </p:txBody>
        </p:sp>
      </p:grpSp>
      <p:grpSp>
        <p:nvGrpSpPr>
          <p:cNvPr id="10" name="Group 10"/>
          <p:cNvGrpSpPr/>
          <p:nvPr/>
        </p:nvGrpSpPr>
        <p:grpSpPr>
          <a:xfrm>
            <a:off x="4792949" y="7497327"/>
            <a:ext cx="4093876" cy="784945"/>
            <a:chOff x="0" y="0"/>
            <a:chExt cx="1078222" cy="206735"/>
          </a:xfrm>
        </p:grpSpPr>
        <p:sp>
          <p:nvSpPr>
            <p:cNvPr id="11" name="Freeform 11"/>
            <p:cNvSpPr/>
            <p:nvPr/>
          </p:nvSpPr>
          <p:spPr>
            <a:xfrm>
              <a:off x="0" y="0"/>
              <a:ext cx="1078222" cy="206735"/>
            </a:xfrm>
            <a:custGeom>
              <a:avLst/>
              <a:gdLst/>
              <a:ahLst/>
              <a:cxnLst/>
              <a:rect l="l" t="t" r="r" b="b"/>
              <a:pathLst>
                <a:path w="1078222" h="206735">
                  <a:moveTo>
                    <a:pt x="103367" y="0"/>
                  </a:moveTo>
                  <a:lnTo>
                    <a:pt x="974855" y="0"/>
                  </a:lnTo>
                  <a:cubicBezTo>
                    <a:pt x="1002270" y="0"/>
                    <a:pt x="1028562" y="10890"/>
                    <a:pt x="1047947" y="30276"/>
                  </a:cubicBezTo>
                  <a:cubicBezTo>
                    <a:pt x="1067332" y="49661"/>
                    <a:pt x="1078222" y="75953"/>
                    <a:pt x="1078222" y="103367"/>
                  </a:cubicBezTo>
                  <a:lnTo>
                    <a:pt x="1078222" y="103367"/>
                  </a:lnTo>
                  <a:cubicBezTo>
                    <a:pt x="1078222" y="130782"/>
                    <a:pt x="1067332" y="157074"/>
                    <a:pt x="1047947" y="176459"/>
                  </a:cubicBezTo>
                  <a:cubicBezTo>
                    <a:pt x="1028562" y="195844"/>
                    <a:pt x="1002270" y="206735"/>
                    <a:pt x="97485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FFFFFF"/>
            </a:solidFill>
          </p:spPr>
        </p:sp>
        <p:sp>
          <p:nvSpPr>
            <p:cNvPr id="12" name="TextBox 12"/>
            <p:cNvSpPr txBox="1"/>
            <p:nvPr/>
          </p:nvSpPr>
          <p:spPr>
            <a:xfrm>
              <a:off x="0" y="-38100"/>
              <a:ext cx="1078222" cy="244835"/>
            </a:xfrm>
            <a:prstGeom prst="rect">
              <a:avLst/>
            </a:prstGeom>
          </p:spPr>
          <p:txBody>
            <a:bodyPr lIns="50800" tIns="50800" rIns="50800" bIns="50800" rtlCol="0" anchor="ctr"/>
            <a:lstStyle/>
            <a:p>
              <a:pPr algn="ctr">
                <a:lnSpc>
                  <a:spcPts val="2520"/>
                </a:lnSpc>
              </a:pPr>
              <a:endParaRPr/>
            </a:p>
          </p:txBody>
        </p:sp>
      </p:grpSp>
      <p:grpSp>
        <p:nvGrpSpPr>
          <p:cNvPr id="13" name="Group 13"/>
          <p:cNvGrpSpPr/>
          <p:nvPr/>
        </p:nvGrpSpPr>
        <p:grpSpPr>
          <a:xfrm>
            <a:off x="9210630" y="7454169"/>
            <a:ext cx="3626441" cy="784945"/>
            <a:chOff x="0" y="0"/>
            <a:chExt cx="955112" cy="206735"/>
          </a:xfrm>
        </p:grpSpPr>
        <p:sp>
          <p:nvSpPr>
            <p:cNvPr id="14" name="Freeform 14"/>
            <p:cNvSpPr/>
            <p:nvPr/>
          </p:nvSpPr>
          <p:spPr>
            <a:xfrm>
              <a:off x="0" y="0"/>
              <a:ext cx="955112" cy="206735"/>
            </a:xfrm>
            <a:custGeom>
              <a:avLst/>
              <a:gdLst/>
              <a:ahLst/>
              <a:cxnLst/>
              <a:rect l="l" t="t" r="r" b="b"/>
              <a:pathLst>
                <a:path w="955112" h="206735">
                  <a:moveTo>
                    <a:pt x="103367" y="0"/>
                  </a:moveTo>
                  <a:lnTo>
                    <a:pt x="851745" y="0"/>
                  </a:lnTo>
                  <a:cubicBezTo>
                    <a:pt x="879159" y="0"/>
                    <a:pt x="905451" y="10890"/>
                    <a:pt x="924836" y="30276"/>
                  </a:cubicBezTo>
                  <a:cubicBezTo>
                    <a:pt x="944222" y="49661"/>
                    <a:pt x="955112" y="75953"/>
                    <a:pt x="955112" y="103367"/>
                  </a:cubicBezTo>
                  <a:lnTo>
                    <a:pt x="955112" y="103367"/>
                  </a:lnTo>
                  <a:cubicBezTo>
                    <a:pt x="955112" y="130782"/>
                    <a:pt x="944222" y="157074"/>
                    <a:pt x="924836" y="176459"/>
                  </a:cubicBezTo>
                  <a:cubicBezTo>
                    <a:pt x="905451" y="195844"/>
                    <a:pt x="879159" y="206735"/>
                    <a:pt x="85174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41CF41"/>
            </a:solidFill>
          </p:spPr>
        </p:sp>
        <p:sp>
          <p:nvSpPr>
            <p:cNvPr id="15" name="TextBox 15"/>
            <p:cNvSpPr txBox="1"/>
            <p:nvPr/>
          </p:nvSpPr>
          <p:spPr>
            <a:xfrm>
              <a:off x="0" y="-38100"/>
              <a:ext cx="955112" cy="244835"/>
            </a:xfrm>
            <a:prstGeom prst="rect">
              <a:avLst/>
            </a:prstGeom>
          </p:spPr>
          <p:txBody>
            <a:bodyPr lIns="50800" tIns="50800" rIns="50800" bIns="50800" rtlCol="0" anchor="ctr"/>
            <a:lstStyle/>
            <a:p>
              <a:pPr algn="ctr">
                <a:lnSpc>
                  <a:spcPts val="2520"/>
                </a:lnSpc>
              </a:pPr>
              <a:endParaRPr/>
            </a:p>
          </p:txBody>
        </p:sp>
      </p:grpSp>
      <p:grpSp>
        <p:nvGrpSpPr>
          <p:cNvPr id="16" name="Group 16"/>
          <p:cNvGrpSpPr/>
          <p:nvPr/>
        </p:nvGrpSpPr>
        <p:grpSpPr>
          <a:xfrm>
            <a:off x="13160921" y="7415533"/>
            <a:ext cx="3992612" cy="784945"/>
            <a:chOff x="0" y="0"/>
            <a:chExt cx="1051552" cy="206735"/>
          </a:xfrm>
        </p:grpSpPr>
        <p:sp>
          <p:nvSpPr>
            <p:cNvPr id="17" name="Freeform 17"/>
            <p:cNvSpPr/>
            <p:nvPr/>
          </p:nvSpPr>
          <p:spPr>
            <a:xfrm>
              <a:off x="0" y="0"/>
              <a:ext cx="1051552" cy="206735"/>
            </a:xfrm>
            <a:custGeom>
              <a:avLst/>
              <a:gdLst/>
              <a:ahLst/>
              <a:cxnLst/>
              <a:rect l="l" t="t" r="r" b="b"/>
              <a:pathLst>
                <a:path w="1051552" h="206735">
                  <a:moveTo>
                    <a:pt x="103367" y="0"/>
                  </a:moveTo>
                  <a:lnTo>
                    <a:pt x="948185" y="0"/>
                  </a:lnTo>
                  <a:cubicBezTo>
                    <a:pt x="975599" y="0"/>
                    <a:pt x="1001891" y="10890"/>
                    <a:pt x="1021276" y="30276"/>
                  </a:cubicBezTo>
                  <a:cubicBezTo>
                    <a:pt x="1040662" y="49661"/>
                    <a:pt x="1051552" y="75953"/>
                    <a:pt x="1051552" y="103367"/>
                  </a:cubicBezTo>
                  <a:lnTo>
                    <a:pt x="1051552" y="103367"/>
                  </a:lnTo>
                  <a:cubicBezTo>
                    <a:pt x="1051552" y="130782"/>
                    <a:pt x="1040662" y="157074"/>
                    <a:pt x="1021276" y="176459"/>
                  </a:cubicBezTo>
                  <a:cubicBezTo>
                    <a:pt x="1001891" y="195844"/>
                    <a:pt x="975599" y="206735"/>
                    <a:pt x="94818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FFFFFF"/>
            </a:solidFill>
          </p:spPr>
        </p:sp>
        <p:sp>
          <p:nvSpPr>
            <p:cNvPr id="18" name="TextBox 18"/>
            <p:cNvSpPr txBox="1"/>
            <p:nvPr/>
          </p:nvSpPr>
          <p:spPr>
            <a:xfrm>
              <a:off x="0" y="-38100"/>
              <a:ext cx="1051552" cy="244835"/>
            </a:xfrm>
            <a:prstGeom prst="rect">
              <a:avLst/>
            </a:prstGeom>
          </p:spPr>
          <p:txBody>
            <a:bodyPr lIns="50800" tIns="50800" rIns="50800" bIns="50800" rtlCol="0" anchor="ctr"/>
            <a:lstStyle/>
            <a:p>
              <a:pPr algn="ctr">
                <a:lnSpc>
                  <a:spcPts val="2520"/>
                </a:lnSpc>
              </a:pPr>
              <a:endParaRPr/>
            </a:p>
          </p:txBody>
        </p:sp>
      </p:grpSp>
      <p:grpSp>
        <p:nvGrpSpPr>
          <p:cNvPr id="19" name="Group 19"/>
          <p:cNvGrpSpPr/>
          <p:nvPr/>
        </p:nvGrpSpPr>
        <p:grpSpPr>
          <a:xfrm>
            <a:off x="6352174" y="6401337"/>
            <a:ext cx="4123689" cy="784945"/>
            <a:chOff x="0" y="0"/>
            <a:chExt cx="1086074" cy="206735"/>
          </a:xfrm>
        </p:grpSpPr>
        <p:sp>
          <p:nvSpPr>
            <p:cNvPr id="20" name="Freeform 20"/>
            <p:cNvSpPr/>
            <p:nvPr/>
          </p:nvSpPr>
          <p:spPr>
            <a:xfrm>
              <a:off x="0" y="0"/>
              <a:ext cx="1086075" cy="206735"/>
            </a:xfrm>
            <a:custGeom>
              <a:avLst/>
              <a:gdLst/>
              <a:ahLst/>
              <a:cxnLst/>
              <a:rect l="l" t="t" r="r" b="b"/>
              <a:pathLst>
                <a:path w="1086075" h="206735">
                  <a:moveTo>
                    <a:pt x="103367" y="0"/>
                  </a:moveTo>
                  <a:lnTo>
                    <a:pt x="982707" y="0"/>
                  </a:lnTo>
                  <a:cubicBezTo>
                    <a:pt x="1010122" y="0"/>
                    <a:pt x="1036414" y="10890"/>
                    <a:pt x="1055799" y="30276"/>
                  </a:cubicBezTo>
                  <a:cubicBezTo>
                    <a:pt x="1075184" y="49661"/>
                    <a:pt x="1086075" y="75953"/>
                    <a:pt x="1086075" y="103367"/>
                  </a:cubicBezTo>
                  <a:lnTo>
                    <a:pt x="1086075" y="103367"/>
                  </a:lnTo>
                  <a:cubicBezTo>
                    <a:pt x="1086075" y="130782"/>
                    <a:pt x="1075184" y="157074"/>
                    <a:pt x="1055799" y="176459"/>
                  </a:cubicBezTo>
                  <a:cubicBezTo>
                    <a:pt x="1036414" y="195844"/>
                    <a:pt x="1010122" y="206735"/>
                    <a:pt x="98270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41CF41"/>
            </a:solidFill>
          </p:spPr>
        </p:sp>
        <p:sp>
          <p:nvSpPr>
            <p:cNvPr id="21" name="TextBox 21"/>
            <p:cNvSpPr txBox="1"/>
            <p:nvPr/>
          </p:nvSpPr>
          <p:spPr>
            <a:xfrm>
              <a:off x="0" y="-38100"/>
              <a:ext cx="1086074" cy="244835"/>
            </a:xfrm>
            <a:prstGeom prst="rect">
              <a:avLst/>
            </a:prstGeom>
          </p:spPr>
          <p:txBody>
            <a:bodyPr lIns="50800" tIns="50800" rIns="50800" bIns="50800" rtlCol="0" anchor="ctr"/>
            <a:lstStyle/>
            <a:p>
              <a:pPr algn="ctr">
                <a:lnSpc>
                  <a:spcPts val="2520"/>
                </a:lnSpc>
              </a:pPr>
              <a:endParaRPr/>
            </a:p>
          </p:txBody>
        </p:sp>
      </p:grpSp>
      <p:grpSp>
        <p:nvGrpSpPr>
          <p:cNvPr id="22" name="Group 22"/>
          <p:cNvGrpSpPr/>
          <p:nvPr/>
        </p:nvGrpSpPr>
        <p:grpSpPr>
          <a:xfrm>
            <a:off x="10923538" y="6401337"/>
            <a:ext cx="5653560" cy="784945"/>
            <a:chOff x="0" y="0"/>
            <a:chExt cx="1489004" cy="206735"/>
          </a:xfrm>
        </p:grpSpPr>
        <p:sp>
          <p:nvSpPr>
            <p:cNvPr id="23" name="Freeform 23"/>
            <p:cNvSpPr/>
            <p:nvPr/>
          </p:nvSpPr>
          <p:spPr>
            <a:xfrm>
              <a:off x="0" y="0"/>
              <a:ext cx="1489004" cy="206735"/>
            </a:xfrm>
            <a:custGeom>
              <a:avLst/>
              <a:gdLst/>
              <a:ahLst/>
              <a:cxnLst/>
              <a:rect l="l" t="t" r="r" b="b"/>
              <a:pathLst>
                <a:path w="1489004" h="206735">
                  <a:moveTo>
                    <a:pt x="103367" y="0"/>
                  </a:moveTo>
                  <a:lnTo>
                    <a:pt x="1385636" y="0"/>
                  </a:lnTo>
                  <a:cubicBezTo>
                    <a:pt x="1413051" y="0"/>
                    <a:pt x="1439343" y="10890"/>
                    <a:pt x="1458728" y="30276"/>
                  </a:cubicBezTo>
                  <a:cubicBezTo>
                    <a:pt x="1478113" y="49661"/>
                    <a:pt x="1489004" y="75953"/>
                    <a:pt x="1489004" y="103367"/>
                  </a:cubicBezTo>
                  <a:lnTo>
                    <a:pt x="1489004" y="103367"/>
                  </a:lnTo>
                  <a:cubicBezTo>
                    <a:pt x="1489004" y="130782"/>
                    <a:pt x="1478113" y="157074"/>
                    <a:pt x="1458728" y="176459"/>
                  </a:cubicBezTo>
                  <a:cubicBezTo>
                    <a:pt x="1439343" y="195844"/>
                    <a:pt x="1413051" y="206735"/>
                    <a:pt x="1385636"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FFFFFF"/>
            </a:solidFill>
          </p:spPr>
        </p:sp>
        <p:sp>
          <p:nvSpPr>
            <p:cNvPr id="24" name="TextBox 24"/>
            <p:cNvSpPr txBox="1"/>
            <p:nvPr/>
          </p:nvSpPr>
          <p:spPr>
            <a:xfrm>
              <a:off x="0" y="-38100"/>
              <a:ext cx="1489004" cy="244835"/>
            </a:xfrm>
            <a:prstGeom prst="rect">
              <a:avLst/>
            </a:prstGeom>
          </p:spPr>
          <p:txBody>
            <a:bodyPr lIns="50800" tIns="50800" rIns="50800" bIns="50800" rtlCol="0" anchor="ctr"/>
            <a:lstStyle/>
            <a:p>
              <a:pPr algn="ctr">
                <a:lnSpc>
                  <a:spcPts val="2520"/>
                </a:lnSpc>
              </a:pPr>
              <a:endParaRPr/>
            </a:p>
          </p:txBody>
        </p:sp>
      </p:grpSp>
      <p:sp>
        <p:nvSpPr>
          <p:cNvPr id="25" name="TextBox 25"/>
          <p:cNvSpPr txBox="1"/>
          <p:nvPr/>
        </p:nvSpPr>
        <p:spPr>
          <a:xfrm>
            <a:off x="1739310" y="6150335"/>
            <a:ext cx="4160430" cy="737235"/>
          </a:xfrm>
          <a:prstGeom prst="rect">
            <a:avLst/>
          </a:prstGeom>
        </p:spPr>
        <p:txBody>
          <a:bodyPr lIns="0" tIns="0" rIns="0" bIns="0" rtlCol="0" anchor="t">
            <a:spAutoFit/>
          </a:bodyPr>
          <a:lstStyle/>
          <a:p>
            <a:pPr marL="0" lvl="0" indent="0" algn="l">
              <a:lnSpc>
                <a:spcPts val="2940"/>
              </a:lnSpc>
              <a:spcBef>
                <a:spcPct val="0"/>
              </a:spcBef>
            </a:pPr>
            <a:endParaRPr/>
          </a:p>
          <a:p>
            <a:pPr marL="0" lvl="0" indent="0" algn="l">
              <a:lnSpc>
                <a:spcPts val="2940"/>
              </a:lnSpc>
              <a:spcBef>
                <a:spcPct val="0"/>
              </a:spcBef>
            </a:pPr>
            <a:r>
              <a:rPr lang="en-US" sz="2100" u="none" strike="noStrike" spc="-63">
                <a:solidFill>
                  <a:srgbClr val="0D0D0D"/>
                </a:solidFill>
                <a:latin typeface="Neue Montreal"/>
                <a:ea typeface="Neue Montreal"/>
                <a:cs typeface="Neue Montreal"/>
                <a:sym typeface="Neue Montreal"/>
              </a:rPr>
              <a:t>Introduction to Salary Prediction App</a:t>
            </a:r>
          </a:p>
        </p:txBody>
      </p:sp>
      <p:sp>
        <p:nvSpPr>
          <p:cNvPr id="26" name="TextBox 26"/>
          <p:cNvSpPr txBox="1"/>
          <p:nvPr/>
        </p:nvSpPr>
        <p:spPr>
          <a:xfrm>
            <a:off x="1687382" y="7547973"/>
            <a:ext cx="3285235" cy="737235"/>
          </a:xfrm>
          <a:prstGeom prst="rect">
            <a:avLst/>
          </a:prstGeom>
        </p:spPr>
        <p:txBody>
          <a:bodyPr lIns="0" tIns="0" rIns="0" bIns="0" rtlCol="0" anchor="t">
            <a:spAutoFit/>
          </a:bodyPr>
          <a:lstStyle/>
          <a:p>
            <a:pPr algn="l">
              <a:lnSpc>
                <a:spcPts val="2940"/>
              </a:lnSpc>
            </a:pPr>
            <a:r>
              <a:rPr lang="en-US" sz="2100" spc="-63" dirty="0">
                <a:solidFill>
                  <a:srgbClr val="161818"/>
                </a:solidFill>
                <a:latin typeface="Neue Montreal"/>
                <a:ea typeface="Neue Montreal"/>
                <a:cs typeface="Neue Montreal"/>
                <a:sym typeface="Neue Montreal"/>
              </a:rPr>
              <a:t>Applications of the App</a:t>
            </a:r>
          </a:p>
          <a:p>
            <a:pPr marL="0" lvl="0" indent="0" algn="l">
              <a:lnSpc>
                <a:spcPts val="2940"/>
              </a:lnSpc>
              <a:spcBef>
                <a:spcPct val="0"/>
              </a:spcBef>
            </a:pPr>
            <a:endParaRPr lang="en-US" sz="2100" spc="-63" dirty="0">
              <a:solidFill>
                <a:srgbClr val="161818"/>
              </a:solidFill>
              <a:latin typeface="Neue Montreal"/>
              <a:ea typeface="Neue Montreal"/>
              <a:cs typeface="Neue Montreal"/>
              <a:sym typeface="Neue Montreal"/>
            </a:endParaRPr>
          </a:p>
        </p:txBody>
      </p:sp>
      <p:sp>
        <p:nvSpPr>
          <p:cNvPr id="27" name="TextBox 27"/>
          <p:cNvSpPr txBox="1"/>
          <p:nvPr/>
        </p:nvSpPr>
        <p:spPr>
          <a:xfrm>
            <a:off x="5486563" y="7678586"/>
            <a:ext cx="4009700" cy="737235"/>
          </a:xfrm>
          <a:prstGeom prst="rect">
            <a:avLst/>
          </a:prstGeom>
        </p:spPr>
        <p:txBody>
          <a:bodyPr lIns="0" tIns="0" rIns="0" bIns="0" rtlCol="0" anchor="t">
            <a:spAutoFit/>
          </a:bodyPr>
          <a:lstStyle/>
          <a:p>
            <a:pPr algn="l">
              <a:lnSpc>
                <a:spcPts val="2940"/>
              </a:lnSpc>
            </a:pPr>
            <a:r>
              <a:rPr lang="en-US" sz="2100" spc="-63" dirty="0">
                <a:solidFill>
                  <a:srgbClr val="FF0000"/>
                </a:solidFill>
                <a:latin typeface="Neue Montreal"/>
                <a:ea typeface="Neue Montreal"/>
                <a:cs typeface="Neue Montreal"/>
                <a:sym typeface="Neue Montreal"/>
              </a:rPr>
              <a:t>Problems Faced and Solutions</a:t>
            </a:r>
          </a:p>
          <a:p>
            <a:pPr marL="0" lvl="0" indent="0" algn="l">
              <a:lnSpc>
                <a:spcPts val="2940"/>
              </a:lnSpc>
              <a:spcBef>
                <a:spcPct val="0"/>
              </a:spcBef>
            </a:pPr>
            <a:endParaRPr lang="en-US" sz="2100" spc="-63" dirty="0">
              <a:solidFill>
                <a:srgbClr val="0D0D0D"/>
              </a:solidFill>
              <a:latin typeface="Neue Montreal"/>
              <a:ea typeface="Neue Montreal"/>
              <a:cs typeface="Neue Montreal"/>
              <a:sym typeface="Neue Montreal"/>
            </a:endParaRPr>
          </a:p>
        </p:txBody>
      </p:sp>
      <p:sp>
        <p:nvSpPr>
          <p:cNvPr id="28" name="TextBox 28"/>
          <p:cNvSpPr txBox="1"/>
          <p:nvPr/>
        </p:nvSpPr>
        <p:spPr>
          <a:xfrm>
            <a:off x="10377227" y="7627983"/>
            <a:ext cx="1645074" cy="365760"/>
          </a:xfrm>
          <a:prstGeom prst="rect">
            <a:avLst/>
          </a:prstGeom>
        </p:spPr>
        <p:txBody>
          <a:bodyPr lIns="0" tIns="0" rIns="0" bIns="0" rtlCol="0" anchor="t">
            <a:spAutoFit/>
          </a:bodyPr>
          <a:lstStyle/>
          <a:p>
            <a:pPr marL="0" lvl="0" indent="0" algn="l">
              <a:lnSpc>
                <a:spcPts val="2940"/>
              </a:lnSpc>
              <a:spcBef>
                <a:spcPct val="0"/>
              </a:spcBef>
            </a:pPr>
            <a:endParaRPr/>
          </a:p>
        </p:txBody>
      </p:sp>
      <p:sp>
        <p:nvSpPr>
          <p:cNvPr id="29" name="TextBox 29"/>
          <p:cNvSpPr txBox="1"/>
          <p:nvPr/>
        </p:nvSpPr>
        <p:spPr>
          <a:xfrm>
            <a:off x="7093665" y="6560447"/>
            <a:ext cx="4233930" cy="737235"/>
          </a:xfrm>
          <a:prstGeom prst="rect">
            <a:avLst/>
          </a:prstGeom>
        </p:spPr>
        <p:txBody>
          <a:bodyPr lIns="0" tIns="0" rIns="0" bIns="0" rtlCol="0" anchor="t">
            <a:spAutoFit/>
          </a:bodyPr>
          <a:lstStyle/>
          <a:p>
            <a:pPr algn="l">
              <a:lnSpc>
                <a:spcPts val="2940"/>
              </a:lnSpc>
            </a:pPr>
            <a:r>
              <a:rPr lang="en-US" sz="2100" spc="-63" dirty="0">
                <a:solidFill>
                  <a:schemeClr val="accent2">
                    <a:lumMod val="75000"/>
                  </a:schemeClr>
                </a:solidFill>
                <a:latin typeface="Neue Montreal"/>
                <a:ea typeface="Neue Montreal"/>
                <a:cs typeface="Neue Montreal"/>
                <a:sym typeface="Neue Montreal"/>
              </a:rPr>
              <a:t>Tools and Technologies Used</a:t>
            </a:r>
          </a:p>
          <a:p>
            <a:pPr marL="0" lvl="0" indent="0" algn="l">
              <a:lnSpc>
                <a:spcPts val="2940"/>
              </a:lnSpc>
              <a:spcBef>
                <a:spcPct val="0"/>
              </a:spcBef>
            </a:pPr>
            <a:endParaRPr lang="en-US" sz="2100" spc="-63" dirty="0">
              <a:solidFill>
                <a:srgbClr val="0D0D0D"/>
              </a:solidFill>
              <a:latin typeface="Neue Montreal"/>
              <a:ea typeface="Neue Montreal"/>
              <a:cs typeface="Neue Montreal"/>
              <a:sym typeface="Neue Montreal"/>
            </a:endParaRPr>
          </a:p>
        </p:txBody>
      </p:sp>
      <p:sp>
        <p:nvSpPr>
          <p:cNvPr id="30" name="TextBox 30"/>
          <p:cNvSpPr txBox="1"/>
          <p:nvPr/>
        </p:nvSpPr>
        <p:spPr>
          <a:xfrm>
            <a:off x="11672502" y="6560447"/>
            <a:ext cx="4960620" cy="737235"/>
          </a:xfrm>
          <a:prstGeom prst="rect">
            <a:avLst/>
          </a:prstGeom>
        </p:spPr>
        <p:txBody>
          <a:bodyPr lIns="0" tIns="0" rIns="0" bIns="0" rtlCol="0" anchor="t">
            <a:spAutoFit/>
          </a:bodyPr>
          <a:lstStyle/>
          <a:p>
            <a:pPr algn="l">
              <a:lnSpc>
                <a:spcPts val="2940"/>
              </a:lnSpc>
            </a:pPr>
            <a:r>
              <a:rPr lang="en-US" sz="2100" spc="-63" dirty="0">
                <a:solidFill>
                  <a:schemeClr val="accent6">
                    <a:lumMod val="75000"/>
                  </a:schemeClr>
                </a:solidFill>
                <a:latin typeface="Neue Montreal"/>
                <a:ea typeface="Neue Montreal"/>
                <a:cs typeface="Neue Montreal"/>
                <a:sym typeface="Neue Montreal"/>
              </a:rPr>
              <a:t>Project Workflow and Output Screenshots</a:t>
            </a:r>
          </a:p>
          <a:p>
            <a:pPr marL="0" lvl="0" indent="0" algn="l">
              <a:lnSpc>
                <a:spcPts val="2940"/>
              </a:lnSpc>
              <a:spcBef>
                <a:spcPct val="0"/>
              </a:spcBef>
            </a:pPr>
            <a:endParaRPr lang="en-US" sz="2100" spc="-63" dirty="0">
              <a:solidFill>
                <a:srgbClr val="0D0D0D"/>
              </a:solidFill>
              <a:latin typeface="Neue Montreal"/>
              <a:ea typeface="Neue Montreal"/>
              <a:cs typeface="Neue Montreal"/>
              <a:sym typeface="Neue Montreal"/>
            </a:endParaRPr>
          </a:p>
        </p:txBody>
      </p:sp>
      <p:grpSp>
        <p:nvGrpSpPr>
          <p:cNvPr id="31" name="Group 31"/>
          <p:cNvGrpSpPr/>
          <p:nvPr/>
        </p:nvGrpSpPr>
        <p:grpSpPr>
          <a:xfrm>
            <a:off x="1324631" y="6634742"/>
            <a:ext cx="240861" cy="24086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33" name="TextBox 33"/>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34" name="Group 34"/>
          <p:cNvGrpSpPr/>
          <p:nvPr/>
        </p:nvGrpSpPr>
        <p:grpSpPr>
          <a:xfrm>
            <a:off x="1324631" y="7687575"/>
            <a:ext cx="240861" cy="24086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37" name="Group 37"/>
          <p:cNvGrpSpPr/>
          <p:nvPr/>
        </p:nvGrpSpPr>
        <p:grpSpPr>
          <a:xfrm>
            <a:off x="5094507" y="7769369"/>
            <a:ext cx="240861" cy="240861"/>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39" name="TextBox 39"/>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40" name="Group 40"/>
          <p:cNvGrpSpPr/>
          <p:nvPr/>
        </p:nvGrpSpPr>
        <p:grpSpPr>
          <a:xfrm>
            <a:off x="9511595" y="7726211"/>
            <a:ext cx="240861" cy="24086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43" name="Group 43"/>
          <p:cNvGrpSpPr/>
          <p:nvPr/>
        </p:nvGrpSpPr>
        <p:grpSpPr>
          <a:xfrm>
            <a:off x="13808621" y="7726211"/>
            <a:ext cx="240861" cy="240861"/>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45" name="TextBox 45"/>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46" name="Group 46"/>
          <p:cNvGrpSpPr/>
          <p:nvPr/>
        </p:nvGrpSpPr>
        <p:grpSpPr>
          <a:xfrm>
            <a:off x="6724855" y="6646708"/>
            <a:ext cx="240861" cy="240861"/>
            <a:chOff x="0" y="0"/>
            <a:chExt cx="812800" cy="812800"/>
          </a:xfrm>
        </p:grpSpPr>
        <p:sp>
          <p:nvSpPr>
            <p:cNvPr id="47" name="Freeform 4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48" name="TextBox 48"/>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49" name="Group 49"/>
          <p:cNvGrpSpPr/>
          <p:nvPr/>
        </p:nvGrpSpPr>
        <p:grpSpPr>
          <a:xfrm>
            <a:off x="11260191" y="6646708"/>
            <a:ext cx="240861" cy="240861"/>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51" name="TextBox 51"/>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52" name="TextBox 52"/>
          <p:cNvSpPr txBox="1"/>
          <p:nvPr/>
        </p:nvSpPr>
        <p:spPr>
          <a:xfrm>
            <a:off x="14192357" y="7574643"/>
            <a:ext cx="2787820" cy="340542"/>
          </a:xfrm>
          <a:prstGeom prst="rect">
            <a:avLst/>
          </a:prstGeom>
        </p:spPr>
        <p:txBody>
          <a:bodyPr lIns="0" tIns="0" rIns="0" bIns="0" rtlCol="0" anchor="t">
            <a:spAutoFit/>
          </a:bodyPr>
          <a:lstStyle/>
          <a:p>
            <a:pPr marL="0" lvl="0" indent="0" algn="l">
              <a:lnSpc>
                <a:spcPts val="2940"/>
              </a:lnSpc>
              <a:spcBef>
                <a:spcPct val="0"/>
              </a:spcBef>
            </a:pPr>
            <a:r>
              <a:rPr lang="en-US" sz="2100" spc="-63" dirty="0">
                <a:solidFill>
                  <a:srgbClr val="7030A0"/>
                </a:solidFill>
                <a:latin typeface="Neue Montreal"/>
                <a:ea typeface="Neue Montreal"/>
                <a:cs typeface="Neue Montreal"/>
                <a:sym typeface="Neue Montreal"/>
              </a:rPr>
              <a:t>Project Repository Link</a:t>
            </a:r>
          </a:p>
        </p:txBody>
      </p:sp>
      <p:sp>
        <p:nvSpPr>
          <p:cNvPr id="53" name="TextBox 53"/>
          <p:cNvSpPr txBox="1"/>
          <p:nvPr/>
        </p:nvSpPr>
        <p:spPr>
          <a:xfrm>
            <a:off x="9866281" y="7627983"/>
            <a:ext cx="2787820" cy="737235"/>
          </a:xfrm>
          <a:prstGeom prst="rect">
            <a:avLst/>
          </a:prstGeom>
        </p:spPr>
        <p:txBody>
          <a:bodyPr lIns="0" tIns="0" rIns="0" bIns="0" rtlCol="0" anchor="t">
            <a:spAutoFit/>
          </a:bodyPr>
          <a:lstStyle/>
          <a:p>
            <a:pPr algn="l">
              <a:lnSpc>
                <a:spcPts val="2940"/>
              </a:lnSpc>
            </a:pPr>
            <a:r>
              <a:rPr lang="en-US" sz="2100" spc="-63" dirty="0">
                <a:solidFill>
                  <a:srgbClr val="0070C0"/>
                </a:solidFill>
                <a:latin typeface="Neue Montreal"/>
                <a:ea typeface="Neue Montreal"/>
                <a:cs typeface="Neue Montreal"/>
                <a:sym typeface="Neue Montreal"/>
              </a:rPr>
              <a:t>Future Scope</a:t>
            </a:r>
          </a:p>
          <a:p>
            <a:pPr marL="0" lvl="0" indent="0" algn="l">
              <a:lnSpc>
                <a:spcPts val="2940"/>
              </a:lnSpc>
              <a:spcBef>
                <a:spcPct val="0"/>
              </a:spcBef>
            </a:pPr>
            <a:endParaRPr lang="en-US" sz="2100" spc="-63" dirty="0">
              <a:solidFill>
                <a:srgbClr val="161818"/>
              </a:solidFill>
              <a:latin typeface="Neue Montreal"/>
              <a:ea typeface="Neue Montreal"/>
              <a:cs typeface="Neue Montreal"/>
              <a:sym typeface="Neue Montreal"/>
            </a:endParaRPr>
          </a:p>
        </p:txBody>
      </p:sp>
      <p:sp>
        <p:nvSpPr>
          <p:cNvPr id="54" name="Freeform 54"/>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5" name="TextBox 55"/>
          <p:cNvSpPr txBox="1"/>
          <p:nvPr/>
        </p:nvSpPr>
        <p:spPr>
          <a:xfrm>
            <a:off x="2043076" y="1151962"/>
            <a:ext cx="3495749" cy="481271"/>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D0D0D"/>
                </a:solidFill>
                <a:latin typeface="Neue Montreal Bold"/>
                <a:ea typeface="Neue Montreal Bold"/>
                <a:cs typeface="Neue Montreal Bold"/>
                <a:sym typeface="Neue Montreal Bold"/>
              </a:rPr>
              <a:t>Salary Prediction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2110" y="5931057"/>
            <a:ext cx="1829748" cy="784945"/>
            <a:chOff x="0" y="0"/>
            <a:chExt cx="481909" cy="206735"/>
          </a:xfrm>
        </p:grpSpPr>
        <p:sp>
          <p:nvSpPr>
            <p:cNvPr id="3" name="Freeform 3"/>
            <p:cNvSpPr/>
            <p:nvPr/>
          </p:nvSpPr>
          <p:spPr>
            <a:xfrm>
              <a:off x="0" y="0"/>
              <a:ext cx="481909" cy="206735"/>
            </a:xfrm>
            <a:custGeom>
              <a:avLst/>
              <a:gdLst/>
              <a:ahLst/>
              <a:cxnLst/>
              <a:rect l="l" t="t" r="r" b="b"/>
              <a:pathLst>
                <a:path w="481909" h="206735">
                  <a:moveTo>
                    <a:pt x="103367" y="0"/>
                  </a:moveTo>
                  <a:lnTo>
                    <a:pt x="378542" y="0"/>
                  </a:lnTo>
                  <a:cubicBezTo>
                    <a:pt x="405956" y="0"/>
                    <a:pt x="432248" y="10890"/>
                    <a:pt x="451633" y="30276"/>
                  </a:cubicBezTo>
                  <a:cubicBezTo>
                    <a:pt x="471018" y="49661"/>
                    <a:pt x="481909" y="75953"/>
                    <a:pt x="481909" y="103367"/>
                  </a:cubicBezTo>
                  <a:lnTo>
                    <a:pt x="481909" y="103367"/>
                  </a:lnTo>
                  <a:cubicBezTo>
                    <a:pt x="481909" y="130782"/>
                    <a:pt x="471018" y="157074"/>
                    <a:pt x="451633" y="176459"/>
                  </a:cubicBezTo>
                  <a:cubicBezTo>
                    <a:pt x="432248" y="195844"/>
                    <a:pt x="405956" y="206735"/>
                    <a:pt x="37854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id="4" name="TextBox 4"/>
            <p:cNvSpPr txBox="1"/>
            <p:nvPr/>
          </p:nvSpPr>
          <p:spPr>
            <a:xfrm>
              <a:off x="0" y="-38100"/>
              <a:ext cx="481909" cy="244835"/>
            </a:xfrm>
            <a:prstGeom prst="rect">
              <a:avLst/>
            </a:prstGeom>
          </p:spPr>
          <p:txBody>
            <a:bodyPr lIns="50800" tIns="50800" rIns="50800" bIns="50800" rtlCol="0" anchor="ctr"/>
            <a:lstStyle/>
            <a:p>
              <a:pPr algn="l">
                <a:lnSpc>
                  <a:spcPts val="2520"/>
                </a:lnSpc>
              </a:pPr>
              <a:endParaRPr/>
            </a:p>
          </p:txBody>
        </p:sp>
      </p:grpSp>
      <p:grpSp>
        <p:nvGrpSpPr>
          <p:cNvPr id="5" name="Group 5"/>
          <p:cNvGrpSpPr/>
          <p:nvPr/>
        </p:nvGrpSpPr>
        <p:grpSpPr>
          <a:xfrm>
            <a:off x="6608468" y="5931057"/>
            <a:ext cx="1829748" cy="784945"/>
            <a:chOff x="0" y="0"/>
            <a:chExt cx="481909" cy="206735"/>
          </a:xfrm>
        </p:grpSpPr>
        <p:sp>
          <p:nvSpPr>
            <p:cNvPr id="6" name="Freeform 6"/>
            <p:cNvSpPr/>
            <p:nvPr/>
          </p:nvSpPr>
          <p:spPr>
            <a:xfrm>
              <a:off x="0" y="0"/>
              <a:ext cx="481909" cy="206735"/>
            </a:xfrm>
            <a:custGeom>
              <a:avLst/>
              <a:gdLst/>
              <a:ahLst/>
              <a:cxnLst/>
              <a:rect l="l" t="t" r="r" b="b"/>
              <a:pathLst>
                <a:path w="481909" h="206735">
                  <a:moveTo>
                    <a:pt x="103367" y="0"/>
                  </a:moveTo>
                  <a:lnTo>
                    <a:pt x="378542" y="0"/>
                  </a:lnTo>
                  <a:cubicBezTo>
                    <a:pt x="405956" y="0"/>
                    <a:pt x="432248" y="10890"/>
                    <a:pt x="451633" y="30276"/>
                  </a:cubicBezTo>
                  <a:cubicBezTo>
                    <a:pt x="471018" y="49661"/>
                    <a:pt x="481909" y="75953"/>
                    <a:pt x="481909" y="103367"/>
                  </a:cubicBezTo>
                  <a:lnTo>
                    <a:pt x="481909" y="103367"/>
                  </a:lnTo>
                  <a:cubicBezTo>
                    <a:pt x="481909" y="130782"/>
                    <a:pt x="471018" y="157074"/>
                    <a:pt x="451633" y="176459"/>
                  </a:cubicBezTo>
                  <a:cubicBezTo>
                    <a:pt x="432248" y="195844"/>
                    <a:pt x="405956" y="206735"/>
                    <a:pt x="37854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id="7" name="TextBox 7"/>
            <p:cNvSpPr txBox="1"/>
            <p:nvPr/>
          </p:nvSpPr>
          <p:spPr>
            <a:xfrm>
              <a:off x="0" y="-38100"/>
              <a:ext cx="481909" cy="244835"/>
            </a:xfrm>
            <a:prstGeom prst="rect">
              <a:avLst/>
            </a:prstGeom>
          </p:spPr>
          <p:txBody>
            <a:bodyPr lIns="50800" tIns="50800" rIns="50800" bIns="50800" rtlCol="0" anchor="ctr"/>
            <a:lstStyle/>
            <a:p>
              <a:pPr algn="l">
                <a:lnSpc>
                  <a:spcPts val="2520"/>
                </a:lnSpc>
              </a:pPr>
              <a:endParaRPr/>
            </a:p>
          </p:txBody>
        </p:sp>
      </p:grpSp>
      <p:grpSp>
        <p:nvGrpSpPr>
          <p:cNvPr id="8" name="Group 8"/>
          <p:cNvGrpSpPr/>
          <p:nvPr/>
        </p:nvGrpSpPr>
        <p:grpSpPr>
          <a:xfrm>
            <a:off x="12231982" y="5931057"/>
            <a:ext cx="1978895" cy="784945"/>
            <a:chOff x="0" y="0"/>
            <a:chExt cx="521190" cy="206735"/>
          </a:xfrm>
        </p:grpSpPr>
        <p:sp>
          <p:nvSpPr>
            <p:cNvPr id="9" name="Freeform 9"/>
            <p:cNvSpPr/>
            <p:nvPr/>
          </p:nvSpPr>
          <p:spPr>
            <a:xfrm>
              <a:off x="0" y="0"/>
              <a:ext cx="521190" cy="206735"/>
            </a:xfrm>
            <a:custGeom>
              <a:avLst/>
              <a:gdLst/>
              <a:ahLst/>
              <a:cxnLst/>
              <a:rect l="l" t="t" r="r" b="b"/>
              <a:pathLst>
                <a:path w="521190" h="206735">
                  <a:moveTo>
                    <a:pt x="103367" y="0"/>
                  </a:moveTo>
                  <a:lnTo>
                    <a:pt x="417823" y="0"/>
                  </a:lnTo>
                  <a:cubicBezTo>
                    <a:pt x="445238" y="0"/>
                    <a:pt x="471530" y="10890"/>
                    <a:pt x="490915" y="30276"/>
                  </a:cubicBezTo>
                  <a:cubicBezTo>
                    <a:pt x="510300" y="49661"/>
                    <a:pt x="521190" y="75953"/>
                    <a:pt x="521190" y="103367"/>
                  </a:cubicBezTo>
                  <a:lnTo>
                    <a:pt x="521190" y="103367"/>
                  </a:lnTo>
                  <a:cubicBezTo>
                    <a:pt x="521190" y="130782"/>
                    <a:pt x="510300" y="157074"/>
                    <a:pt x="490915" y="176459"/>
                  </a:cubicBezTo>
                  <a:cubicBezTo>
                    <a:pt x="471530" y="195844"/>
                    <a:pt x="445238" y="206735"/>
                    <a:pt x="41782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id="10" name="TextBox 10"/>
            <p:cNvSpPr txBox="1"/>
            <p:nvPr/>
          </p:nvSpPr>
          <p:spPr>
            <a:xfrm>
              <a:off x="0" y="-38100"/>
              <a:ext cx="521190" cy="244835"/>
            </a:xfrm>
            <a:prstGeom prst="rect">
              <a:avLst/>
            </a:prstGeom>
          </p:spPr>
          <p:txBody>
            <a:bodyPr lIns="50800" tIns="50800" rIns="50800" bIns="50800" rtlCol="0" anchor="ctr"/>
            <a:lstStyle/>
            <a:p>
              <a:pPr algn="l">
                <a:lnSpc>
                  <a:spcPts val="2520"/>
                </a:lnSpc>
              </a:pPr>
              <a:endParaRPr/>
            </a:p>
          </p:txBody>
        </p:sp>
      </p:grpSp>
      <p:sp>
        <p:nvSpPr>
          <p:cNvPr id="11" name="Freeform 11"/>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15285647" y="1072430"/>
            <a:ext cx="1973653" cy="784945"/>
            <a:chOff x="0" y="0"/>
            <a:chExt cx="519810" cy="206735"/>
          </a:xfrm>
        </p:grpSpPr>
        <p:sp>
          <p:nvSpPr>
            <p:cNvPr id="13" name="Freeform 13"/>
            <p:cNvSpPr/>
            <p:nvPr/>
          </p:nvSpPr>
          <p:spPr>
            <a:xfrm>
              <a:off x="0" y="0"/>
              <a:ext cx="519810" cy="206735"/>
            </a:xfrm>
            <a:custGeom>
              <a:avLst/>
              <a:gdLst/>
              <a:ahLst/>
              <a:cxnLst/>
              <a:rect l="l" t="t" r="r" b="b"/>
              <a:pathLst>
                <a:path w="519810" h="206735">
                  <a:moveTo>
                    <a:pt x="103367" y="0"/>
                  </a:moveTo>
                  <a:lnTo>
                    <a:pt x="416443" y="0"/>
                  </a:lnTo>
                  <a:cubicBezTo>
                    <a:pt x="443857" y="0"/>
                    <a:pt x="470149" y="10890"/>
                    <a:pt x="489534" y="30276"/>
                  </a:cubicBezTo>
                  <a:cubicBezTo>
                    <a:pt x="508919" y="49661"/>
                    <a:pt x="519810" y="75953"/>
                    <a:pt x="519810" y="103367"/>
                  </a:cubicBezTo>
                  <a:lnTo>
                    <a:pt x="519810" y="103367"/>
                  </a:lnTo>
                  <a:cubicBezTo>
                    <a:pt x="519810" y="130782"/>
                    <a:pt x="508919" y="157074"/>
                    <a:pt x="489534" y="176459"/>
                  </a:cubicBezTo>
                  <a:cubicBezTo>
                    <a:pt x="470149" y="195844"/>
                    <a:pt x="443857" y="206735"/>
                    <a:pt x="41644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id="14" name="TextBox 14"/>
            <p:cNvSpPr txBox="1"/>
            <p:nvPr/>
          </p:nvSpPr>
          <p:spPr>
            <a:xfrm>
              <a:off x="0" y="-38100"/>
              <a:ext cx="519810" cy="244835"/>
            </a:xfrm>
            <a:prstGeom prst="rect">
              <a:avLst/>
            </a:prstGeom>
          </p:spPr>
          <p:txBody>
            <a:bodyPr lIns="50800" tIns="50800" rIns="50800" bIns="50800" rtlCol="0" anchor="ctr"/>
            <a:lstStyle/>
            <a:p>
              <a:pPr algn="ctr">
                <a:lnSpc>
                  <a:spcPts val="2520"/>
                </a:lnSpc>
              </a:pPr>
              <a:endParaRPr/>
            </a:p>
          </p:txBody>
        </p:sp>
      </p:grpSp>
      <p:sp>
        <p:nvSpPr>
          <p:cNvPr id="15" name="TextBox 15"/>
          <p:cNvSpPr txBox="1"/>
          <p:nvPr/>
        </p:nvSpPr>
        <p:spPr>
          <a:xfrm>
            <a:off x="15224448" y="1258210"/>
            <a:ext cx="1663377" cy="365760"/>
          </a:xfrm>
          <a:prstGeom prst="rect">
            <a:avLst/>
          </a:prstGeom>
        </p:spPr>
        <p:txBody>
          <a:bodyPr lIns="0" tIns="0" rIns="0" bIns="0" rtlCol="0" anchor="t">
            <a:spAutoFit/>
          </a:bodyPr>
          <a:lstStyle/>
          <a:p>
            <a:pPr marL="0" lvl="0" indent="0" algn="r">
              <a:lnSpc>
                <a:spcPts val="2940"/>
              </a:lnSpc>
              <a:spcBef>
                <a:spcPct val="0"/>
              </a:spcBef>
            </a:pPr>
            <a:r>
              <a:rPr lang="en-US" sz="2100">
                <a:solidFill>
                  <a:srgbClr val="FFFFFF"/>
                </a:solidFill>
                <a:latin typeface="Neue Montreal"/>
                <a:ea typeface="Neue Montreal"/>
                <a:cs typeface="Neue Montreal"/>
                <a:sym typeface="Neue Montreal"/>
              </a:rPr>
              <a:t>Page 1</a:t>
            </a:r>
          </a:p>
        </p:txBody>
      </p:sp>
      <p:grpSp>
        <p:nvGrpSpPr>
          <p:cNvPr id="16" name="Group 16"/>
          <p:cNvGrpSpPr/>
          <p:nvPr/>
        </p:nvGrpSpPr>
        <p:grpSpPr>
          <a:xfrm>
            <a:off x="15623026" y="1344472"/>
            <a:ext cx="240861" cy="24086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19" name="TextBox 19"/>
          <p:cNvSpPr txBox="1"/>
          <p:nvPr/>
        </p:nvSpPr>
        <p:spPr>
          <a:xfrm>
            <a:off x="1292387" y="6116838"/>
            <a:ext cx="1519471"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161818"/>
                </a:solidFill>
                <a:latin typeface="Neue Montreal"/>
                <a:ea typeface="Neue Montreal"/>
                <a:cs typeface="Neue Montreal"/>
                <a:sym typeface="Neue Montreal"/>
              </a:rPr>
              <a:t>Goal One</a:t>
            </a:r>
          </a:p>
        </p:txBody>
      </p:sp>
      <p:sp>
        <p:nvSpPr>
          <p:cNvPr id="20" name="TextBox 20"/>
          <p:cNvSpPr txBox="1"/>
          <p:nvPr/>
        </p:nvSpPr>
        <p:spPr>
          <a:xfrm>
            <a:off x="6918744" y="6116838"/>
            <a:ext cx="1519471"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161818"/>
                </a:solidFill>
                <a:latin typeface="Neue Montreal"/>
                <a:ea typeface="Neue Montreal"/>
                <a:cs typeface="Neue Montreal"/>
                <a:sym typeface="Neue Montreal"/>
              </a:rPr>
              <a:t>Goal Two</a:t>
            </a:r>
          </a:p>
        </p:txBody>
      </p:sp>
      <p:sp>
        <p:nvSpPr>
          <p:cNvPr id="21" name="TextBox 21"/>
          <p:cNvSpPr txBox="1"/>
          <p:nvPr/>
        </p:nvSpPr>
        <p:spPr>
          <a:xfrm>
            <a:off x="12542259" y="6116838"/>
            <a:ext cx="1668619"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161818"/>
                </a:solidFill>
                <a:latin typeface="Neue Montreal"/>
                <a:ea typeface="Neue Montreal"/>
                <a:cs typeface="Neue Montreal"/>
                <a:sym typeface="Neue Montreal"/>
              </a:rPr>
              <a:t>Goal Three</a:t>
            </a:r>
          </a:p>
        </p:txBody>
      </p:sp>
      <p:sp>
        <p:nvSpPr>
          <p:cNvPr id="22" name="TextBox 22"/>
          <p:cNvSpPr txBox="1"/>
          <p:nvPr/>
        </p:nvSpPr>
        <p:spPr>
          <a:xfrm>
            <a:off x="1060629" y="2914649"/>
            <a:ext cx="6462712" cy="1388110"/>
          </a:xfrm>
          <a:prstGeom prst="rect">
            <a:avLst/>
          </a:prstGeom>
        </p:spPr>
        <p:txBody>
          <a:bodyPr lIns="0" tIns="0" rIns="0" bIns="0" rtlCol="0" anchor="t">
            <a:spAutoFit/>
          </a:bodyPr>
          <a:lstStyle/>
          <a:p>
            <a:pPr algn="l">
              <a:lnSpc>
                <a:spcPts val="10400"/>
              </a:lnSpc>
            </a:pPr>
            <a:r>
              <a:rPr lang="en-US" sz="10400">
                <a:solidFill>
                  <a:srgbClr val="0D0D0D"/>
                </a:solidFill>
                <a:latin typeface="Neue Montreal"/>
                <a:ea typeface="Neue Montreal"/>
                <a:cs typeface="Neue Montreal"/>
                <a:sym typeface="Neue Montreal"/>
              </a:rPr>
              <a:t>Introduction</a:t>
            </a:r>
          </a:p>
        </p:txBody>
      </p:sp>
      <p:sp>
        <p:nvSpPr>
          <p:cNvPr id="23" name="TextBox 23"/>
          <p:cNvSpPr txBox="1"/>
          <p:nvPr/>
        </p:nvSpPr>
        <p:spPr>
          <a:xfrm>
            <a:off x="10796588" y="3053080"/>
            <a:ext cx="6462712"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The Salary Prediction App leverages machine learning regression models to predict employee salaries based on input features such as years at the company, satisfaction level, and average monthly hours worked.</a:t>
            </a:r>
          </a:p>
        </p:txBody>
      </p:sp>
      <p:sp>
        <p:nvSpPr>
          <p:cNvPr id="24" name="TextBox 24"/>
          <p:cNvSpPr txBox="1"/>
          <p:nvPr/>
        </p:nvSpPr>
        <p:spPr>
          <a:xfrm>
            <a:off x="1028700" y="7111925"/>
            <a:ext cx="4510124"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Traditional salary determination can be biased or inaccurate—ML-based prediction introduces consistency and data-driven insight.</a:t>
            </a:r>
          </a:p>
        </p:txBody>
      </p:sp>
      <p:sp>
        <p:nvSpPr>
          <p:cNvPr id="25" name="TextBox 25"/>
          <p:cNvSpPr txBox="1"/>
          <p:nvPr/>
        </p:nvSpPr>
        <p:spPr>
          <a:xfrm>
            <a:off x="6655058" y="7111925"/>
            <a:ext cx="4510124"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The project showcases a full machine learning pipeline, from data preprocessing to deployment, for real-world HR analytics.</a:t>
            </a:r>
          </a:p>
        </p:txBody>
      </p:sp>
      <p:sp>
        <p:nvSpPr>
          <p:cNvPr id="26" name="TextBox 26"/>
          <p:cNvSpPr txBox="1"/>
          <p:nvPr/>
        </p:nvSpPr>
        <p:spPr>
          <a:xfrm>
            <a:off x="12278572" y="7111925"/>
            <a:ext cx="4510124" cy="935355"/>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Novelty: Interactive web deployment using Streamlit for user engagement and demonstration</a:t>
            </a:r>
          </a:p>
        </p:txBody>
      </p:sp>
      <p:sp>
        <p:nvSpPr>
          <p:cNvPr id="27" name="TextBox 27"/>
          <p:cNvSpPr txBox="1"/>
          <p:nvPr/>
        </p:nvSpPr>
        <p:spPr>
          <a:xfrm>
            <a:off x="2043076" y="1151962"/>
            <a:ext cx="3495749" cy="481271"/>
          </a:xfrm>
          <a:prstGeom prst="rect">
            <a:avLst/>
          </a:prstGeom>
        </p:spPr>
        <p:txBody>
          <a:bodyPr lIns="0" tIns="0" rIns="0" bIns="0" rtlCol="0" anchor="t">
            <a:spAutoFit/>
          </a:bodyPr>
          <a:lstStyle/>
          <a:p>
            <a:pPr marL="0" lvl="0" indent="0" algn="l">
              <a:lnSpc>
                <a:spcPts val="3919"/>
              </a:lnSpc>
              <a:spcBef>
                <a:spcPct val="0"/>
              </a:spcBef>
            </a:pPr>
            <a:endParaRPr/>
          </a:p>
        </p:txBody>
      </p:sp>
      <p:sp>
        <p:nvSpPr>
          <p:cNvPr id="28" name="TextBox 28"/>
          <p:cNvSpPr txBox="1"/>
          <p:nvPr/>
        </p:nvSpPr>
        <p:spPr>
          <a:xfrm>
            <a:off x="2071651" y="1151962"/>
            <a:ext cx="3495749" cy="481271"/>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D0D0D"/>
                </a:solidFill>
                <a:latin typeface="Neue Montreal Bold"/>
                <a:ea typeface="Neue Montreal Bold"/>
                <a:cs typeface="Neue Montreal Bold"/>
                <a:sym typeface="Neue Montreal Bold"/>
              </a:rPr>
              <a:t>Salary Prediction </a:t>
            </a:r>
          </a:p>
        </p:txBody>
      </p:sp>
      <p:sp>
        <p:nvSpPr>
          <p:cNvPr id="29" name="Freeform 29"/>
          <p:cNvSpPr/>
          <p:nvPr/>
        </p:nvSpPr>
        <p:spPr>
          <a:xfrm rot="-1519681">
            <a:off x="-6340164" y="1305776"/>
            <a:ext cx="18571789" cy="9525780"/>
          </a:xfrm>
          <a:custGeom>
            <a:avLst/>
            <a:gdLst/>
            <a:ahLst/>
            <a:cxnLst/>
            <a:rect l="l" t="t" r="r" b="b"/>
            <a:pathLst>
              <a:path w="18571789" h="9525780">
                <a:moveTo>
                  <a:pt x="0" y="0"/>
                </a:moveTo>
                <a:lnTo>
                  <a:pt x="18571789" y="0"/>
                </a:lnTo>
                <a:lnTo>
                  <a:pt x="18571789" y="9525780"/>
                </a:lnTo>
                <a:lnTo>
                  <a:pt x="0" y="9525780"/>
                </a:lnTo>
                <a:lnTo>
                  <a:pt x="0" y="0"/>
                </a:lnTo>
                <a:close/>
              </a:path>
            </a:pathLst>
          </a:custGeom>
          <a:blipFill>
            <a:blip r:embed="rId4">
              <a:alphaModFix amt="15000"/>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71550" y="2570205"/>
            <a:ext cx="7915275" cy="2702560"/>
          </a:xfrm>
          <a:prstGeom prst="rect">
            <a:avLst/>
          </a:prstGeom>
        </p:spPr>
        <p:txBody>
          <a:bodyPr lIns="0" tIns="0" rIns="0" bIns="0" rtlCol="0" anchor="t">
            <a:spAutoFit/>
          </a:bodyPr>
          <a:lstStyle/>
          <a:p>
            <a:pPr algn="l">
              <a:lnSpc>
                <a:spcPts val="10400"/>
              </a:lnSpc>
            </a:pPr>
            <a:r>
              <a:rPr lang="en-US" sz="10400">
                <a:solidFill>
                  <a:srgbClr val="0D0D0D"/>
                </a:solidFill>
                <a:latin typeface="Neue Montreal"/>
                <a:ea typeface="Neue Montreal"/>
                <a:cs typeface="Neue Montreal"/>
                <a:sym typeface="Neue Montreal"/>
              </a:rPr>
              <a:t>Tools and </a:t>
            </a:r>
          </a:p>
          <a:p>
            <a:pPr algn="l">
              <a:lnSpc>
                <a:spcPts val="10400"/>
              </a:lnSpc>
            </a:pPr>
            <a:r>
              <a:rPr lang="en-US" sz="10400">
                <a:solidFill>
                  <a:srgbClr val="0D0D0D"/>
                </a:solidFill>
                <a:latin typeface="Neue Montreal"/>
                <a:ea typeface="Neue Montreal"/>
                <a:cs typeface="Neue Montreal"/>
                <a:sym typeface="Neue Montreal"/>
              </a:rPr>
              <a:t>Technologies</a:t>
            </a:r>
          </a:p>
        </p:txBody>
      </p:sp>
      <p:grpSp>
        <p:nvGrpSpPr>
          <p:cNvPr id="3" name="Group 3"/>
          <p:cNvGrpSpPr/>
          <p:nvPr/>
        </p:nvGrpSpPr>
        <p:grpSpPr>
          <a:xfrm>
            <a:off x="9008426" y="2083650"/>
            <a:ext cx="3576323" cy="784945"/>
            <a:chOff x="0" y="0"/>
            <a:chExt cx="941912" cy="206735"/>
          </a:xfrm>
        </p:grpSpPr>
        <p:sp>
          <p:nvSpPr>
            <p:cNvPr id="4" name="Freeform 4"/>
            <p:cNvSpPr/>
            <p:nvPr/>
          </p:nvSpPr>
          <p:spPr>
            <a:xfrm>
              <a:off x="0" y="0"/>
              <a:ext cx="941912" cy="206735"/>
            </a:xfrm>
            <a:custGeom>
              <a:avLst/>
              <a:gdLst/>
              <a:ahLst/>
              <a:cxnLst/>
              <a:rect l="l" t="t" r="r" b="b"/>
              <a:pathLst>
                <a:path w="941912" h="206735">
                  <a:moveTo>
                    <a:pt x="103367" y="0"/>
                  </a:moveTo>
                  <a:lnTo>
                    <a:pt x="838545" y="0"/>
                  </a:lnTo>
                  <a:cubicBezTo>
                    <a:pt x="865960" y="0"/>
                    <a:pt x="892251" y="10890"/>
                    <a:pt x="911637" y="30276"/>
                  </a:cubicBezTo>
                  <a:cubicBezTo>
                    <a:pt x="931022" y="49661"/>
                    <a:pt x="941912" y="75953"/>
                    <a:pt x="941912" y="103367"/>
                  </a:cubicBezTo>
                  <a:lnTo>
                    <a:pt x="941912" y="103367"/>
                  </a:lnTo>
                  <a:cubicBezTo>
                    <a:pt x="941912" y="130782"/>
                    <a:pt x="931022" y="157074"/>
                    <a:pt x="911637" y="176459"/>
                  </a:cubicBezTo>
                  <a:cubicBezTo>
                    <a:pt x="892251" y="195844"/>
                    <a:pt x="865960" y="206735"/>
                    <a:pt x="83854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id="5" name="TextBox 5"/>
            <p:cNvSpPr txBox="1"/>
            <p:nvPr/>
          </p:nvSpPr>
          <p:spPr>
            <a:xfrm>
              <a:off x="0" y="-38100"/>
              <a:ext cx="941912" cy="244835"/>
            </a:xfrm>
            <a:prstGeom prst="rect">
              <a:avLst/>
            </a:prstGeom>
          </p:spPr>
          <p:txBody>
            <a:bodyPr lIns="50800" tIns="50800" rIns="50800" bIns="50800" rtlCol="0" anchor="ctr"/>
            <a:lstStyle/>
            <a:p>
              <a:pPr algn="l">
                <a:lnSpc>
                  <a:spcPts val="2520"/>
                </a:lnSpc>
              </a:pPr>
              <a:endParaRPr/>
            </a:p>
          </p:txBody>
        </p:sp>
      </p:grpSp>
      <p:sp>
        <p:nvSpPr>
          <p:cNvPr id="6" name="TextBox 6"/>
          <p:cNvSpPr txBox="1"/>
          <p:nvPr/>
        </p:nvSpPr>
        <p:spPr>
          <a:xfrm>
            <a:off x="9163565" y="3034130"/>
            <a:ext cx="3266046" cy="2594609"/>
          </a:xfrm>
          <a:prstGeom prst="rect">
            <a:avLst/>
          </a:prstGeom>
        </p:spPr>
        <p:txBody>
          <a:bodyPr lIns="0" tIns="0" rIns="0" bIns="0" rtlCol="0" anchor="t">
            <a:spAutoFit/>
          </a:bodyPr>
          <a:lstStyle/>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Python: core language for all analytics and modeling</a:t>
            </a:r>
          </a:p>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Jupyter Notebook: iterative development and EDA, easy visualization</a:t>
            </a:r>
          </a:p>
          <a:p>
            <a:pPr marL="0" lvl="0" indent="0" algn="l">
              <a:lnSpc>
                <a:spcPts val="2940"/>
              </a:lnSpc>
              <a:spcBef>
                <a:spcPct val="0"/>
              </a:spcBef>
            </a:pPr>
            <a:endParaRPr lang="en-US" sz="2100">
              <a:solidFill>
                <a:srgbClr val="0D0D0D"/>
              </a:solidFill>
              <a:latin typeface="Neue Montreal"/>
              <a:ea typeface="Neue Montreal"/>
              <a:cs typeface="Neue Montreal"/>
              <a:sym typeface="Neue Montreal"/>
            </a:endParaRPr>
          </a:p>
        </p:txBody>
      </p:sp>
      <p:grpSp>
        <p:nvGrpSpPr>
          <p:cNvPr id="7" name="Group 7"/>
          <p:cNvGrpSpPr/>
          <p:nvPr/>
        </p:nvGrpSpPr>
        <p:grpSpPr>
          <a:xfrm>
            <a:off x="13497485" y="2083650"/>
            <a:ext cx="2366402" cy="784945"/>
            <a:chOff x="0" y="0"/>
            <a:chExt cx="623250" cy="206735"/>
          </a:xfrm>
        </p:grpSpPr>
        <p:sp>
          <p:nvSpPr>
            <p:cNvPr id="8" name="Freeform 8"/>
            <p:cNvSpPr/>
            <p:nvPr/>
          </p:nvSpPr>
          <p:spPr>
            <a:xfrm>
              <a:off x="0" y="0"/>
              <a:ext cx="623250" cy="206735"/>
            </a:xfrm>
            <a:custGeom>
              <a:avLst/>
              <a:gdLst/>
              <a:ahLst/>
              <a:cxnLst/>
              <a:rect l="l" t="t" r="r" b="b"/>
              <a:pathLst>
                <a:path w="623250" h="206735">
                  <a:moveTo>
                    <a:pt x="103367" y="0"/>
                  </a:moveTo>
                  <a:lnTo>
                    <a:pt x="519883" y="0"/>
                  </a:lnTo>
                  <a:cubicBezTo>
                    <a:pt x="547297" y="0"/>
                    <a:pt x="573589" y="10890"/>
                    <a:pt x="592974" y="30276"/>
                  </a:cubicBezTo>
                  <a:cubicBezTo>
                    <a:pt x="612359" y="49661"/>
                    <a:pt x="623250" y="75953"/>
                    <a:pt x="623250" y="103367"/>
                  </a:cubicBezTo>
                  <a:lnTo>
                    <a:pt x="623250" y="103367"/>
                  </a:lnTo>
                  <a:cubicBezTo>
                    <a:pt x="623250" y="130782"/>
                    <a:pt x="612359" y="157074"/>
                    <a:pt x="592974" y="176459"/>
                  </a:cubicBezTo>
                  <a:cubicBezTo>
                    <a:pt x="573589" y="195844"/>
                    <a:pt x="547297" y="206735"/>
                    <a:pt x="51988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id="9" name="TextBox 9"/>
            <p:cNvSpPr txBox="1"/>
            <p:nvPr/>
          </p:nvSpPr>
          <p:spPr>
            <a:xfrm>
              <a:off x="0" y="-38100"/>
              <a:ext cx="623250" cy="244835"/>
            </a:xfrm>
            <a:prstGeom prst="rect">
              <a:avLst/>
            </a:prstGeom>
          </p:spPr>
          <p:txBody>
            <a:bodyPr lIns="50800" tIns="50800" rIns="50800" bIns="50800" rtlCol="0" anchor="ctr"/>
            <a:lstStyle/>
            <a:p>
              <a:pPr algn="l">
                <a:lnSpc>
                  <a:spcPts val="2520"/>
                </a:lnSpc>
              </a:pPr>
              <a:endParaRPr/>
            </a:p>
          </p:txBody>
        </p:sp>
      </p:grpSp>
      <p:sp>
        <p:nvSpPr>
          <p:cNvPr id="10" name="Freeform 10"/>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2071651" y="1107139"/>
            <a:ext cx="3495749" cy="976511"/>
          </a:xfrm>
          <a:prstGeom prst="rect">
            <a:avLst/>
          </a:prstGeom>
        </p:spPr>
        <p:txBody>
          <a:bodyPr lIns="0" tIns="0" rIns="0" bIns="0" rtlCol="0" anchor="t">
            <a:spAutoFit/>
          </a:bodyPr>
          <a:lstStyle/>
          <a:p>
            <a:pPr algn="l">
              <a:lnSpc>
                <a:spcPts val="3919"/>
              </a:lnSpc>
            </a:pPr>
            <a:r>
              <a:rPr lang="en-US" sz="2799" b="1">
                <a:solidFill>
                  <a:srgbClr val="0D0D0D"/>
                </a:solidFill>
                <a:latin typeface="Neue Montreal Bold"/>
                <a:ea typeface="Neue Montreal Bold"/>
                <a:cs typeface="Neue Montreal Bold"/>
                <a:sym typeface="Neue Montreal Bold"/>
              </a:rPr>
              <a:t>Salary Prediction </a:t>
            </a:r>
          </a:p>
          <a:p>
            <a:pPr marL="0" lvl="0" indent="0" algn="l">
              <a:lnSpc>
                <a:spcPts val="3919"/>
              </a:lnSpc>
              <a:spcBef>
                <a:spcPct val="0"/>
              </a:spcBef>
            </a:pPr>
            <a:endParaRPr lang="en-US" sz="2799" b="1">
              <a:solidFill>
                <a:srgbClr val="0D0D0D"/>
              </a:solidFill>
              <a:latin typeface="Neue Montreal Bold"/>
              <a:ea typeface="Neue Montreal Bold"/>
              <a:cs typeface="Neue Montreal Bold"/>
              <a:sym typeface="Neue Montreal Bold"/>
            </a:endParaRPr>
          </a:p>
        </p:txBody>
      </p:sp>
      <p:grpSp>
        <p:nvGrpSpPr>
          <p:cNvPr id="12" name="Group 12"/>
          <p:cNvGrpSpPr/>
          <p:nvPr/>
        </p:nvGrpSpPr>
        <p:grpSpPr>
          <a:xfrm>
            <a:off x="15285647" y="1072430"/>
            <a:ext cx="1973653" cy="784945"/>
            <a:chOff x="0" y="0"/>
            <a:chExt cx="519810" cy="206735"/>
          </a:xfrm>
        </p:grpSpPr>
        <p:sp>
          <p:nvSpPr>
            <p:cNvPr id="13" name="Freeform 13"/>
            <p:cNvSpPr/>
            <p:nvPr/>
          </p:nvSpPr>
          <p:spPr>
            <a:xfrm>
              <a:off x="0" y="0"/>
              <a:ext cx="519810" cy="206735"/>
            </a:xfrm>
            <a:custGeom>
              <a:avLst/>
              <a:gdLst/>
              <a:ahLst/>
              <a:cxnLst/>
              <a:rect l="l" t="t" r="r" b="b"/>
              <a:pathLst>
                <a:path w="519810" h="206735">
                  <a:moveTo>
                    <a:pt x="103367" y="0"/>
                  </a:moveTo>
                  <a:lnTo>
                    <a:pt x="416443" y="0"/>
                  </a:lnTo>
                  <a:cubicBezTo>
                    <a:pt x="443857" y="0"/>
                    <a:pt x="470149" y="10890"/>
                    <a:pt x="489534" y="30276"/>
                  </a:cubicBezTo>
                  <a:cubicBezTo>
                    <a:pt x="508919" y="49661"/>
                    <a:pt x="519810" y="75953"/>
                    <a:pt x="519810" y="103367"/>
                  </a:cubicBezTo>
                  <a:lnTo>
                    <a:pt x="519810" y="103367"/>
                  </a:lnTo>
                  <a:cubicBezTo>
                    <a:pt x="519810" y="130782"/>
                    <a:pt x="508919" y="157074"/>
                    <a:pt x="489534" y="176459"/>
                  </a:cubicBezTo>
                  <a:cubicBezTo>
                    <a:pt x="470149" y="195844"/>
                    <a:pt x="443857" y="206735"/>
                    <a:pt x="41644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id="14" name="TextBox 14"/>
            <p:cNvSpPr txBox="1"/>
            <p:nvPr/>
          </p:nvSpPr>
          <p:spPr>
            <a:xfrm>
              <a:off x="0" y="-38100"/>
              <a:ext cx="519810" cy="244835"/>
            </a:xfrm>
            <a:prstGeom prst="rect">
              <a:avLst/>
            </a:prstGeom>
          </p:spPr>
          <p:txBody>
            <a:bodyPr lIns="50800" tIns="50800" rIns="50800" bIns="50800" rtlCol="0" anchor="ctr"/>
            <a:lstStyle/>
            <a:p>
              <a:pPr algn="ctr">
                <a:lnSpc>
                  <a:spcPts val="2520"/>
                </a:lnSpc>
              </a:pPr>
              <a:endParaRPr/>
            </a:p>
          </p:txBody>
        </p:sp>
      </p:grpSp>
      <p:sp>
        <p:nvSpPr>
          <p:cNvPr id="15" name="TextBox 15"/>
          <p:cNvSpPr txBox="1"/>
          <p:nvPr/>
        </p:nvSpPr>
        <p:spPr>
          <a:xfrm>
            <a:off x="15224448" y="1258210"/>
            <a:ext cx="1663377" cy="365760"/>
          </a:xfrm>
          <a:prstGeom prst="rect">
            <a:avLst/>
          </a:prstGeom>
        </p:spPr>
        <p:txBody>
          <a:bodyPr lIns="0" tIns="0" rIns="0" bIns="0" rtlCol="0" anchor="t">
            <a:spAutoFit/>
          </a:bodyPr>
          <a:lstStyle/>
          <a:p>
            <a:pPr marL="0" lvl="0" indent="0" algn="r">
              <a:lnSpc>
                <a:spcPts val="2940"/>
              </a:lnSpc>
              <a:spcBef>
                <a:spcPct val="0"/>
              </a:spcBef>
            </a:pPr>
            <a:r>
              <a:rPr lang="en-US" sz="2100">
                <a:solidFill>
                  <a:srgbClr val="FFFFFF"/>
                </a:solidFill>
                <a:latin typeface="Neue Montreal"/>
                <a:ea typeface="Neue Montreal"/>
                <a:cs typeface="Neue Montreal"/>
                <a:sym typeface="Neue Montreal"/>
              </a:rPr>
              <a:t>Page 2</a:t>
            </a:r>
          </a:p>
        </p:txBody>
      </p:sp>
      <p:grpSp>
        <p:nvGrpSpPr>
          <p:cNvPr id="16" name="Group 16"/>
          <p:cNvGrpSpPr/>
          <p:nvPr/>
        </p:nvGrpSpPr>
        <p:grpSpPr>
          <a:xfrm>
            <a:off x="15623026" y="1344472"/>
            <a:ext cx="240861" cy="24086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19" name="Freeform 19"/>
          <p:cNvSpPr/>
          <p:nvPr/>
        </p:nvSpPr>
        <p:spPr>
          <a:xfrm>
            <a:off x="1028700" y="5831681"/>
            <a:ext cx="404812" cy="404812"/>
          </a:xfrm>
          <a:custGeom>
            <a:avLst/>
            <a:gdLst/>
            <a:ahLst/>
            <a:cxnLst/>
            <a:rect l="l" t="t" r="r" b="b"/>
            <a:pathLst>
              <a:path w="404812" h="404812">
                <a:moveTo>
                  <a:pt x="0" y="0"/>
                </a:moveTo>
                <a:lnTo>
                  <a:pt x="404812" y="0"/>
                </a:lnTo>
                <a:lnTo>
                  <a:pt x="404812" y="404813"/>
                </a:lnTo>
                <a:lnTo>
                  <a:pt x="0" y="4048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TextBox 20"/>
          <p:cNvSpPr txBox="1"/>
          <p:nvPr/>
        </p:nvSpPr>
        <p:spPr>
          <a:xfrm>
            <a:off x="9466179" y="2269430"/>
            <a:ext cx="681675" cy="365760"/>
          </a:xfrm>
          <a:prstGeom prst="rect">
            <a:avLst/>
          </a:prstGeom>
        </p:spPr>
        <p:txBody>
          <a:bodyPr lIns="0" tIns="0" rIns="0" bIns="0" rtlCol="0" anchor="t">
            <a:spAutoFit/>
          </a:bodyPr>
          <a:lstStyle/>
          <a:p>
            <a:pPr marL="0" lvl="0" indent="0" algn="l">
              <a:lnSpc>
                <a:spcPts val="2940"/>
              </a:lnSpc>
              <a:spcBef>
                <a:spcPct val="0"/>
              </a:spcBef>
            </a:pPr>
            <a:endParaRPr/>
          </a:p>
        </p:txBody>
      </p:sp>
      <p:sp>
        <p:nvSpPr>
          <p:cNvPr id="21" name="TextBox 21"/>
          <p:cNvSpPr txBox="1"/>
          <p:nvPr/>
        </p:nvSpPr>
        <p:spPr>
          <a:xfrm>
            <a:off x="9298205" y="2269430"/>
            <a:ext cx="3042646" cy="701556"/>
          </a:xfrm>
          <a:prstGeom prst="rect">
            <a:avLst/>
          </a:prstGeom>
        </p:spPr>
        <p:txBody>
          <a:bodyPr lIns="0" tIns="0" rIns="0" bIns="0" rtlCol="0" anchor="t">
            <a:spAutoFit/>
          </a:bodyPr>
          <a:lstStyle/>
          <a:p>
            <a:pPr algn="ctr">
              <a:lnSpc>
                <a:spcPts val="2800"/>
              </a:lnSpc>
              <a:spcBef>
                <a:spcPct val="0"/>
              </a:spcBef>
            </a:pPr>
            <a:r>
              <a:rPr lang="en-US" sz="2000" b="1">
                <a:solidFill>
                  <a:srgbClr val="000000"/>
                </a:solidFill>
                <a:latin typeface="Neue Montreal Bold"/>
                <a:ea typeface="Neue Montreal Bold"/>
                <a:cs typeface="Neue Montreal Bold"/>
                <a:sym typeface="Neue Montreal Bold"/>
              </a:rPr>
              <a:t>Languages/Frameworks:</a:t>
            </a:r>
          </a:p>
          <a:p>
            <a:pPr algn="ctr">
              <a:lnSpc>
                <a:spcPts val="2800"/>
              </a:lnSpc>
              <a:spcBef>
                <a:spcPct val="0"/>
              </a:spcBef>
            </a:pPr>
            <a:endParaRPr lang="en-US" sz="2000" b="1">
              <a:solidFill>
                <a:srgbClr val="000000"/>
              </a:solidFill>
              <a:latin typeface="Neue Montreal Bold"/>
              <a:ea typeface="Neue Montreal Bold"/>
              <a:cs typeface="Neue Montreal Bold"/>
              <a:sym typeface="Neue Montreal Bold"/>
            </a:endParaRPr>
          </a:p>
        </p:txBody>
      </p:sp>
      <p:sp>
        <p:nvSpPr>
          <p:cNvPr id="22" name="TextBox 22"/>
          <p:cNvSpPr txBox="1"/>
          <p:nvPr/>
        </p:nvSpPr>
        <p:spPr>
          <a:xfrm>
            <a:off x="14034213" y="2260600"/>
            <a:ext cx="2819245" cy="701556"/>
          </a:xfrm>
          <a:prstGeom prst="rect">
            <a:avLst/>
          </a:prstGeom>
        </p:spPr>
        <p:txBody>
          <a:bodyPr lIns="0" tIns="0" rIns="0" bIns="0" rtlCol="0" anchor="t">
            <a:spAutoFit/>
          </a:bodyPr>
          <a:lstStyle/>
          <a:p>
            <a:pPr algn="ctr">
              <a:lnSpc>
                <a:spcPts val="2800"/>
              </a:lnSpc>
              <a:spcBef>
                <a:spcPct val="0"/>
              </a:spcBef>
            </a:pPr>
            <a:endParaRPr/>
          </a:p>
          <a:p>
            <a:pPr algn="ctr">
              <a:lnSpc>
                <a:spcPts val="2800"/>
              </a:lnSpc>
              <a:spcBef>
                <a:spcPct val="0"/>
              </a:spcBef>
            </a:pPr>
            <a:endParaRPr/>
          </a:p>
        </p:txBody>
      </p:sp>
      <p:sp>
        <p:nvSpPr>
          <p:cNvPr id="23" name="TextBox 23"/>
          <p:cNvSpPr txBox="1"/>
          <p:nvPr/>
        </p:nvSpPr>
        <p:spPr>
          <a:xfrm>
            <a:off x="13044642" y="2260600"/>
            <a:ext cx="2819245" cy="365760"/>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Neue Montreal Bold"/>
                <a:ea typeface="Neue Montreal Bold"/>
                <a:cs typeface="Neue Montreal Bold"/>
                <a:sym typeface="Neue Montreal Bold"/>
              </a:rPr>
              <a:t>Libraries:</a:t>
            </a:r>
          </a:p>
        </p:txBody>
      </p:sp>
      <p:sp>
        <p:nvSpPr>
          <p:cNvPr id="24" name="TextBox 24"/>
          <p:cNvSpPr txBox="1"/>
          <p:nvPr/>
        </p:nvSpPr>
        <p:spPr>
          <a:xfrm>
            <a:off x="13591425" y="2676727"/>
            <a:ext cx="3266046" cy="4080509"/>
          </a:xfrm>
          <a:prstGeom prst="rect">
            <a:avLst/>
          </a:prstGeom>
        </p:spPr>
        <p:txBody>
          <a:bodyPr lIns="0" tIns="0" rIns="0" bIns="0" rtlCol="0" anchor="t">
            <a:spAutoFit/>
          </a:bodyPr>
          <a:lstStyle/>
          <a:p>
            <a:pPr algn="l">
              <a:lnSpc>
                <a:spcPts val="2940"/>
              </a:lnSpc>
            </a:pPr>
            <a:endParaRPr/>
          </a:p>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Pandas &amp; NumPy: data manipulation and processing</a:t>
            </a:r>
          </a:p>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Scikit-learn: model building, feature scaling, evaluation</a:t>
            </a:r>
          </a:p>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Matplotlib &amp; Seaborn: charts and exploratory visuals</a:t>
            </a:r>
          </a:p>
          <a:p>
            <a:pPr marL="0" lvl="0" indent="0" algn="l">
              <a:lnSpc>
                <a:spcPts val="2940"/>
              </a:lnSpc>
              <a:spcBef>
                <a:spcPct val="0"/>
              </a:spcBef>
            </a:pPr>
            <a:endParaRPr lang="en-US" sz="2100">
              <a:solidFill>
                <a:srgbClr val="0D0D0D"/>
              </a:solidFill>
              <a:latin typeface="Neue Montreal"/>
              <a:ea typeface="Neue Montreal"/>
              <a:cs typeface="Neue Montreal"/>
              <a:sym typeface="Neue Montreal"/>
            </a:endParaRPr>
          </a:p>
        </p:txBody>
      </p:sp>
      <p:sp>
        <p:nvSpPr>
          <p:cNvPr id="25" name="TextBox 25"/>
          <p:cNvSpPr txBox="1"/>
          <p:nvPr/>
        </p:nvSpPr>
        <p:spPr>
          <a:xfrm>
            <a:off x="9298205" y="6157913"/>
            <a:ext cx="3266046" cy="2966084"/>
          </a:xfrm>
          <a:prstGeom prst="rect">
            <a:avLst/>
          </a:prstGeom>
        </p:spPr>
        <p:txBody>
          <a:bodyPr lIns="0" tIns="0" rIns="0" bIns="0" rtlCol="0" anchor="t">
            <a:spAutoFit/>
          </a:bodyPr>
          <a:lstStyle/>
          <a:p>
            <a:pPr algn="l">
              <a:lnSpc>
                <a:spcPts val="2940"/>
              </a:lnSpc>
            </a:pPr>
            <a:endParaRPr/>
          </a:p>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Streamlit: fast deployment, live interaction with model​</a:t>
            </a:r>
          </a:p>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Canva Pro: UI/UX enhancements, marketing graphics</a:t>
            </a:r>
          </a:p>
          <a:p>
            <a:pPr marL="0" lvl="0" indent="0" algn="l">
              <a:lnSpc>
                <a:spcPts val="2940"/>
              </a:lnSpc>
              <a:spcBef>
                <a:spcPct val="0"/>
              </a:spcBef>
            </a:pPr>
            <a:endParaRPr lang="en-US" sz="2100">
              <a:solidFill>
                <a:srgbClr val="0D0D0D"/>
              </a:solidFill>
              <a:latin typeface="Neue Montreal"/>
              <a:ea typeface="Neue Montreal"/>
              <a:cs typeface="Neue Montreal"/>
              <a:sym typeface="Neue Montreal"/>
            </a:endParaRPr>
          </a:p>
        </p:txBody>
      </p:sp>
      <p:grpSp>
        <p:nvGrpSpPr>
          <p:cNvPr id="26" name="Group 26"/>
          <p:cNvGrpSpPr/>
          <p:nvPr/>
        </p:nvGrpSpPr>
        <p:grpSpPr>
          <a:xfrm>
            <a:off x="9008426" y="5587868"/>
            <a:ext cx="3576323" cy="784945"/>
            <a:chOff x="0" y="0"/>
            <a:chExt cx="941912" cy="206735"/>
          </a:xfrm>
        </p:grpSpPr>
        <p:sp>
          <p:nvSpPr>
            <p:cNvPr id="27" name="Freeform 27"/>
            <p:cNvSpPr/>
            <p:nvPr/>
          </p:nvSpPr>
          <p:spPr>
            <a:xfrm>
              <a:off x="0" y="0"/>
              <a:ext cx="941912" cy="206735"/>
            </a:xfrm>
            <a:custGeom>
              <a:avLst/>
              <a:gdLst/>
              <a:ahLst/>
              <a:cxnLst/>
              <a:rect l="l" t="t" r="r" b="b"/>
              <a:pathLst>
                <a:path w="941912" h="206735">
                  <a:moveTo>
                    <a:pt x="103367" y="0"/>
                  </a:moveTo>
                  <a:lnTo>
                    <a:pt x="838545" y="0"/>
                  </a:lnTo>
                  <a:cubicBezTo>
                    <a:pt x="865960" y="0"/>
                    <a:pt x="892251" y="10890"/>
                    <a:pt x="911637" y="30276"/>
                  </a:cubicBezTo>
                  <a:cubicBezTo>
                    <a:pt x="931022" y="49661"/>
                    <a:pt x="941912" y="75953"/>
                    <a:pt x="941912" y="103367"/>
                  </a:cubicBezTo>
                  <a:lnTo>
                    <a:pt x="941912" y="103367"/>
                  </a:lnTo>
                  <a:cubicBezTo>
                    <a:pt x="941912" y="130782"/>
                    <a:pt x="931022" y="157074"/>
                    <a:pt x="911637" y="176459"/>
                  </a:cubicBezTo>
                  <a:cubicBezTo>
                    <a:pt x="892251" y="195844"/>
                    <a:pt x="865960" y="206735"/>
                    <a:pt x="83854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id="28" name="TextBox 28"/>
            <p:cNvSpPr txBox="1"/>
            <p:nvPr/>
          </p:nvSpPr>
          <p:spPr>
            <a:xfrm>
              <a:off x="0" y="-38100"/>
              <a:ext cx="941912" cy="244835"/>
            </a:xfrm>
            <a:prstGeom prst="rect">
              <a:avLst/>
            </a:prstGeom>
          </p:spPr>
          <p:txBody>
            <a:bodyPr lIns="50800" tIns="50800" rIns="50800" bIns="50800" rtlCol="0" anchor="ctr"/>
            <a:lstStyle/>
            <a:p>
              <a:pPr algn="l">
                <a:lnSpc>
                  <a:spcPts val="2520"/>
                </a:lnSpc>
              </a:pPr>
              <a:endParaRPr/>
            </a:p>
          </p:txBody>
        </p:sp>
      </p:grpSp>
      <p:sp>
        <p:nvSpPr>
          <p:cNvPr id="29" name="TextBox 29"/>
          <p:cNvSpPr txBox="1"/>
          <p:nvPr/>
        </p:nvSpPr>
        <p:spPr>
          <a:xfrm>
            <a:off x="9386965" y="5784056"/>
            <a:ext cx="2819245" cy="349190"/>
          </a:xfrm>
          <a:prstGeom prst="rect">
            <a:avLst/>
          </a:prstGeom>
        </p:spPr>
        <p:txBody>
          <a:bodyPr lIns="0" tIns="0" rIns="0" bIns="0" rtlCol="0" anchor="t">
            <a:spAutoFit/>
          </a:bodyPr>
          <a:lstStyle/>
          <a:p>
            <a:pPr algn="ctr">
              <a:lnSpc>
                <a:spcPts val="2800"/>
              </a:lnSpc>
              <a:spcBef>
                <a:spcPct val="0"/>
              </a:spcBef>
            </a:pPr>
            <a:endParaRPr/>
          </a:p>
        </p:txBody>
      </p:sp>
      <p:sp>
        <p:nvSpPr>
          <p:cNvPr id="30" name="TextBox 30"/>
          <p:cNvSpPr txBox="1"/>
          <p:nvPr/>
        </p:nvSpPr>
        <p:spPr>
          <a:xfrm>
            <a:off x="8886825" y="5781933"/>
            <a:ext cx="2819245" cy="365760"/>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Neue Montreal Bold"/>
                <a:ea typeface="Neue Montreal Bold"/>
                <a:cs typeface="Neue Montreal Bold"/>
                <a:sym typeface="Neue Montreal Bold"/>
              </a:rPr>
              <a:t>Deployment/UI:</a:t>
            </a:r>
          </a:p>
        </p:txBody>
      </p:sp>
      <p:sp>
        <p:nvSpPr>
          <p:cNvPr id="31" name="TextBox 31"/>
          <p:cNvSpPr txBox="1"/>
          <p:nvPr/>
        </p:nvSpPr>
        <p:spPr>
          <a:xfrm>
            <a:off x="13232788" y="7645760"/>
            <a:ext cx="3266046" cy="1108710"/>
          </a:xfrm>
          <a:prstGeom prst="rect">
            <a:avLst/>
          </a:prstGeom>
        </p:spPr>
        <p:txBody>
          <a:bodyPr lIns="0" tIns="0" rIns="0" bIns="0" rtlCol="0" anchor="t">
            <a:spAutoFit/>
          </a:bodyPr>
          <a:lstStyle/>
          <a:p>
            <a:pPr marL="453393" lvl="1" indent="-226697" algn="l">
              <a:lnSpc>
                <a:spcPts val="2940"/>
              </a:lnSpc>
              <a:buFont typeface="Arial"/>
              <a:buChar char="•"/>
            </a:pPr>
            <a:r>
              <a:rPr lang="en-US" sz="2100">
                <a:solidFill>
                  <a:srgbClr val="0D0D0D"/>
                </a:solidFill>
                <a:latin typeface="Neue Montreal"/>
                <a:ea typeface="Neue Montreal"/>
                <a:cs typeface="Neue Montreal"/>
                <a:sym typeface="Neue Montreal"/>
              </a:rPr>
              <a:t> For collaborative development and sharing</a:t>
            </a:r>
          </a:p>
          <a:p>
            <a:pPr algn="l">
              <a:lnSpc>
                <a:spcPts val="2940"/>
              </a:lnSpc>
              <a:spcBef>
                <a:spcPct val="0"/>
              </a:spcBef>
            </a:pPr>
            <a:endParaRPr lang="en-US" sz="2100">
              <a:solidFill>
                <a:srgbClr val="0D0D0D"/>
              </a:solidFill>
              <a:latin typeface="Neue Montreal"/>
              <a:ea typeface="Neue Montreal"/>
              <a:cs typeface="Neue Montreal"/>
              <a:sym typeface="Neue Montreal"/>
            </a:endParaRPr>
          </a:p>
        </p:txBody>
      </p:sp>
      <p:grpSp>
        <p:nvGrpSpPr>
          <p:cNvPr id="32" name="Group 32"/>
          <p:cNvGrpSpPr/>
          <p:nvPr/>
        </p:nvGrpSpPr>
        <p:grpSpPr>
          <a:xfrm>
            <a:off x="13163490" y="6679840"/>
            <a:ext cx="3435187" cy="784945"/>
            <a:chOff x="0" y="0"/>
            <a:chExt cx="904741" cy="206735"/>
          </a:xfrm>
        </p:grpSpPr>
        <p:sp>
          <p:nvSpPr>
            <p:cNvPr id="33" name="Freeform 33"/>
            <p:cNvSpPr/>
            <p:nvPr/>
          </p:nvSpPr>
          <p:spPr>
            <a:xfrm>
              <a:off x="0" y="0"/>
              <a:ext cx="904741" cy="206735"/>
            </a:xfrm>
            <a:custGeom>
              <a:avLst/>
              <a:gdLst/>
              <a:ahLst/>
              <a:cxnLst/>
              <a:rect l="l" t="t" r="r" b="b"/>
              <a:pathLst>
                <a:path w="904741" h="206735">
                  <a:moveTo>
                    <a:pt x="103367" y="0"/>
                  </a:moveTo>
                  <a:lnTo>
                    <a:pt x="801373" y="0"/>
                  </a:lnTo>
                  <a:cubicBezTo>
                    <a:pt x="828788" y="0"/>
                    <a:pt x="855080" y="10890"/>
                    <a:pt x="874465" y="30276"/>
                  </a:cubicBezTo>
                  <a:cubicBezTo>
                    <a:pt x="893850" y="49661"/>
                    <a:pt x="904741" y="75953"/>
                    <a:pt x="904741" y="103367"/>
                  </a:cubicBezTo>
                  <a:lnTo>
                    <a:pt x="904741" y="103367"/>
                  </a:lnTo>
                  <a:cubicBezTo>
                    <a:pt x="904741" y="130782"/>
                    <a:pt x="893850" y="157074"/>
                    <a:pt x="874465" y="176459"/>
                  </a:cubicBezTo>
                  <a:cubicBezTo>
                    <a:pt x="855080" y="195844"/>
                    <a:pt x="828788" y="206735"/>
                    <a:pt x="80137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id="34" name="TextBox 34"/>
            <p:cNvSpPr txBox="1"/>
            <p:nvPr/>
          </p:nvSpPr>
          <p:spPr>
            <a:xfrm>
              <a:off x="0" y="-38100"/>
              <a:ext cx="904741" cy="244835"/>
            </a:xfrm>
            <a:prstGeom prst="rect">
              <a:avLst/>
            </a:prstGeom>
          </p:spPr>
          <p:txBody>
            <a:bodyPr lIns="50800" tIns="50800" rIns="50800" bIns="50800" rtlCol="0" anchor="ctr"/>
            <a:lstStyle/>
            <a:p>
              <a:pPr algn="l">
                <a:lnSpc>
                  <a:spcPts val="2520"/>
                </a:lnSpc>
              </a:pPr>
              <a:endParaRPr/>
            </a:p>
          </p:txBody>
        </p:sp>
      </p:grpSp>
      <p:sp>
        <p:nvSpPr>
          <p:cNvPr id="35" name="TextBox 35"/>
          <p:cNvSpPr txBox="1"/>
          <p:nvPr/>
        </p:nvSpPr>
        <p:spPr>
          <a:xfrm>
            <a:off x="13232788" y="6865620"/>
            <a:ext cx="3145449" cy="365760"/>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Neue Montreal Bold"/>
                <a:ea typeface="Neue Montreal Bold"/>
                <a:cs typeface="Neue Montreal Bold"/>
                <a:sym typeface="Neue Montreal Bold"/>
              </a:rPr>
              <a:t>Version Control/Github:</a:t>
            </a:r>
          </a:p>
        </p:txBody>
      </p:sp>
      <p:sp>
        <p:nvSpPr>
          <p:cNvPr id="36" name="TextBox 36"/>
          <p:cNvSpPr txBox="1"/>
          <p:nvPr/>
        </p:nvSpPr>
        <p:spPr>
          <a:xfrm>
            <a:off x="1231106" y="6719136"/>
            <a:ext cx="6462712" cy="306705"/>
          </a:xfrm>
          <a:prstGeom prst="rect">
            <a:avLst/>
          </a:prstGeom>
        </p:spPr>
        <p:txBody>
          <a:bodyPr lIns="0" tIns="0" rIns="0" bIns="0" rtlCol="0" anchor="t">
            <a:spAutoFit/>
          </a:bodyPr>
          <a:lstStyle/>
          <a:p>
            <a:pPr algn="l">
              <a:lnSpc>
                <a:spcPts val="2520"/>
              </a:lnSpc>
            </a:pPr>
            <a:endParaRPr/>
          </a:p>
        </p:txBody>
      </p:sp>
      <p:sp>
        <p:nvSpPr>
          <p:cNvPr id="37" name="TextBox 37"/>
          <p:cNvSpPr txBox="1"/>
          <p:nvPr/>
        </p:nvSpPr>
        <p:spPr>
          <a:xfrm>
            <a:off x="1231106" y="6637973"/>
            <a:ext cx="6462712" cy="1868805"/>
          </a:xfrm>
          <a:prstGeom prst="rect">
            <a:avLst/>
          </a:prstGeom>
        </p:spPr>
        <p:txBody>
          <a:bodyPr lIns="0" tIns="0" rIns="0" bIns="0" rtlCol="0" anchor="t">
            <a:spAutoFit/>
          </a:bodyPr>
          <a:lstStyle/>
          <a:p>
            <a:pPr algn="l">
              <a:lnSpc>
                <a:spcPts val="2520"/>
              </a:lnSpc>
              <a:spcBef>
                <a:spcPct val="0"/>
              </a:spcBef>
            </a:pPr>
            <a:r>
              <a:rPr lang="en-US" sz="1800">
                <a:solidFill>
                  <a:srgbClr val="000000"/>
                </a:solidFill>
                <a:latin typeface="Open Sans"/>
                <a:ea typeface="Open Sans"/>
                <a:cs typeface="Open Sans"/>
                <a:sym typeface="Open Sans"/>
              </a:rPr>
              <a:t>Python, Jupyter Notebook, and Scikit-learn were used to build and analyze regression models for predicting salary, with Streamlit enabling an interactive app interface. Data was processed using Pandas and visualized with Matplotlib, while Canva Pro enhanced the user interface and presentation graphics.</a:t>
            </a:r>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53762" y="9563696"/>
            <a:ext cx="2276475" cy="567374"/>
            <a:chOff x="0" y="0"/>
            <a:chExt cx="599565" cy="149432"/>
          </a:xfrm>
        </p:grpSpPr>
        <p:sp>
          <p:nvSpPr>
            <p:cNvPr id="3" name="Freeform 3"/>
            <p:cNvSpPr/>
            <p:nvPr/>
          </p:nvSpPr>
          <p:spPr>
            <a:xfrm>
              <a:off x="0" y="0"/>
              <a:ext cx="599565" cy="149432"/>
            </a:xfrm>
            <a:custGeom>
              <a:avLst/>
              <a:gdLst/>
              <a:ahLst/>
              <a:cxnLst/>
              <a:rect l="l" t="t" r="r" b="b"/>
              <a:pathLst>
                <a:path w="599565" h="149432">
                  <a:moveTo>
                    <a:pt x="74716" y="0"/>
                  </a:moveTo>
                  <a:lnTo>
                    <a:pt x="524850" y="0"/>
                  </a:lnTo>
                  <a:cubicBezTo>
                    <a:pt x="566114" y="0"/>
                    <a:pt x="599565" y="33451"/>
                    <a:pt x="599565" y="74716"/>
                  </a:cubicBezTo>
                  <a:lnTo>
                    <a:pt x="599565" y="74716"/>
                  </a:lnTo>
                  <a:cubicBezTo>
                    <a:pt x="599565" y="94532"/>
                    <a:pt x="591694" y="113536"/>
                    <a:pt x="577682" y="127548"/>
                  </a:cubicBezTo>
                  <a:cubicBezTo>
                    <a:pt x="563670" y="141560"/>
                    <a:pt x="544665" y="149432"/>
                    <a:pt x="524850"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68DE68"/>
            </a:solidFill>
          </p:spPr>
        </p:sp>
        <p:sp>
          <p:nvSpPr>
            <p:cNvPr id="4" name="TextBox 4"/>
            <p:cNvSpPr txBox="1"/>
            <p:nvPr/>
          </p:nvSpPr>
          <p:spPr>
            <a:xfrm>
              <a:off x="0" y="-38100"/>
              <a:ext cx="599565" cy="187532"/>
            </a:xfrm>
            <a:prstGeom prst="rect">
              <a:avLst/>
            </a:prstGeom>
          </p:spPr>
          <p:txBody>
            <a:bodyPr lIns="50800" tIns="50800" rIns="50800" bIns="50800" rtlCol="0" anchor="ctr"/>
            <a:lstStyle/>
            <a:p>
              <a:pPr algn="l">
                <a:lnSpc>
                  <a:spcPts val="2520"/>
                </a:lnSpc>
              </a:pPr>
              <a:endParaRPr/>
            </a:p>
          </p:txBody>
        </p:sp>
      </p:grpSp>
      <p:sp>
        <p:nvSpPr>
          <p:cNvPr id="5" name="Freeform 5"/>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5285647" y="1072430"/>
            <a:ext cx="1973653" cy="784945"/>
            <a:chOff x="0" y="0"/>
            <a:chExt cx="519810" cy="206735"/>
          </a:xfrm>
        </p:grpSpPr>
        <p:sp>
          <p:nvSpPr>
            <p:cNvPr id="7" name="Freeform 7"/>
            <p:cNvSpPr/>
            <p:nvPr/>
          </p:nvSpPr>
          <p:spPr>
            <a:xfrm>
              <a:off x="0" y="0"/>
              <a:ext cx="519810" cy="206735"/>
            </a:xfrm>
            <a:custGeom>
              <a:avLst/>
              <a:gdLst/>
              <a:ahLst/>
              <a:cxnLst/>
              <a:rect l="l" t="t" r="r" b="b"/>
              <a:pathLst>
                <a:path w="519810" h="206735">
                  <a:moveTo>
                    <a:pt x="103367" y="0"/>
                  </a:moveTo>
                  <a:lnTo>
                    <a:pt x="416443" y="0"/>
                  </a:lnTo>
                  <a:cubicBezTo>
                    <a:pt x="443857" y="0"/>
                    <a:pt x="470149" y="10890"/>
                    <a:pt x="489534" y="30276"/>
                  </a:cubicBezTo>
                  <a:cubicBezTo>
                    <a:pt x="508919" y="49661"/>
                    <a:pt x="519810" y="75953"/>
                    <a:pt x="519810" y="103367"/>
                  </a:cubicBezTo>
                  <a:lnTo>
                    <a:pt x="519810" y="103367"/>
                  </a:lnTo>
                  <a:cubicBezTo>
                    <a:pt x="519810" y="130782"/>
                    <a:pt x="508919" y="157074"/>
                    <a:pt x="489534" y="176459"/>
                  </a:cubicBezTo>
                  <a:cubicBezTo>
                    <a:pt x="470149" y="195844"/>
                    <a:pt x="443857" y="206735"/>
                    <a:pt x="41644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id="8" name="TextBox 8"/>
            <p:cNvSpPr txBox="1"/>
            <p:nvPr/>
          </p:nvSpPr>
          <p:spPr>
            <a:xfrm>
              <a:off x="0" y="-38100"/>
              <a:ext cx="519810" cy="244835"/>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15224448" y="1258210"/>
            <a:ext cx="1663377" cy="365760"/>
          </a:xfrm>
          <a:prstGeom prst="rect">
            <a:avLst/>
          </a:prstGeom>
        </p:spPr>
        <p:txBody>
          <a:bodyPr lIns="0" tIns="0" rIns="0" bIns="0" rtlCol="0" anchor="t">
            <a:spAutoFit/>
          </a:bodyPr>
          <a:lstStyle/>
          <a:p>
            <a:pPr marL="0" lvl="0" indent="0" algn="r">
              <a:lnSpc>
                <a:spcPts val="2940"/>
              </a:lnSpc>
              <a:spcBef>
                <a:spcPct val="0"/>
              </a:spcBef>
            </a:pPr>
            <a:r>
              <a:rPr lang="en-US" sz="2100">
                <a:solidFill>
                  <a:srgbClr val="FFFFFF"/>
                </a:solidFill>
                <a:latin typeface="Neue Montreal"/>
                <a:ea typeface="Neue Montreal"/>
                <a:cs typeface="Neue Montreal"/>
                <a:sym typeface="Neue Montreal"/>
              </a:rPr>
              <a:t>Page 3</a:t>
            </a:r>
          </a:p>
        </p:txBody>
      </p:sp>
      <p:grpSp>
        <p:nvGrpSpPr>
          <p:cNvPr id="10" name="Group 10"/>
          <p:cNvGrpSpPr/>
          <p:nvPr/>
        </p:nvGrpSpPr>
        <p:grpSpPr>
          <a:xfrm>
            <a:off x="15623026" y="1344472"/>
            <a:ext cx="240861" cy="2408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13" name="Freeform 13"/>
          <p:cNvSpPr/>
          <p:nvPr/>
        </p:nvSpPr>
        <p:spPr>
          <a:xfrm>
            <a:off x="1028700" y="5831681"/>
            <a:ext cx="404812" cy="404812"/>
          </a:xfrm>
          <a:custGeom>
            <a:avLst/>
            <a:gdLst/>
            <a:ahLst/>
            <a:cxnLst/>
            <a:rect l="l" t="t" r="r" b="b"/>
            <a:pathLst>
              <a:path w="404812" h="404812">
                <a:moveTo>
                  <a:pt x="0" y="0"/>
                </a:moveTo>
                <a:lnTo>
                  <a:pt x="404812" y="0"/>
                </a:lnTo>
                <a:lnTo>
                  <a:pt x="404812" y="404813"/>
                </a:lnTo>
                <a:lnTo>
                  <a:pt x="0" y="4048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5400000">
            <a:off x="11146186" y="5195587"/>
            <a:ext cx="7558979" cy="415744"/>
          </a:xfrm>
          <a:custGeom>
            <a:avLst/>
            <a:gdLst/>
            <a:ahLst/>
            <a:cxnLst/>
            <a:rect l="l" t="t" r="r" b="b"/>
            <a:pathLst>
              <a:path w="7558979" h="415744">
                <a:moveTo>
                  <a:pt x="0" y="0"/>
                </a:moveTo>
                <a:lnTo>
                  <a:pt x="7558978" y="0"/>
                </a:lnTo>
                <a:lnTo>
                  <a:pt x="7558978" y="415744"/>
                </a:lnTo>
                <a:lnTo>
                  <a:pt x="0" y="415744"/>
                </a:lnTo>
                <a:lnTo>
                  <a:pt x="0" y="0"/>
                </a:lnTo>
                <a:close/>
              </a:path>
            </a:pathLst>
          </a:custGeom>
          <a:blipFill>
            <a:blip r:embed="rId6"/>
            <a:stretch>
              <a:fillRect/>
            </a:stretch>
          </a:blipFill>
        </p:spPr>
      </p:sp>
      <p:sp>
        <p:nvSpPr>
          <p:cNvPr id="16" name="Freeform 16"/>
          <p:cNvSpPr/>
          <p:nvPr/>
        </p:nvSpPr>
        <p:spPr>
          <a:xfrm>
            <a:off x="9764975" y="9258300"/>
            <a:ext cx="4864251" cy="267534"/>
          </a:xfrm>
          <a:custGeom>
            <a:avLst/>
            <a:gdLst/>
            <a:ahLst/>
            <a:cxnLst/>
            <a:rect l="l" t="t" r="r" b="b"/>
            <a:pathLst>
              <a:path w="4864251" h="267534">
                <a:moveTo>
                  <a:pt x="0" y="0"/>
                </a:moveTo>
                <a:lnTo>
                  <a:pt x="4864252" y="0"/>
                </a:lnTo>
                <a:lnTo>
                  <a:pt x="4864252" y="267534"/>
                </a:lnTo>
                <a:lnTo>
                  <a:pt x="0" y="267534"/>
                </a:lnTo>
                <a:lnTo>
                  <a:pt x="0" y="0"/>
                </a:lnTo>
                <a:close/>
              </a:path>
            </a:pathLst>
          </a:custGeom>
          <a:blipFill>
            <a:blip r:embed="rId6"/>
            <a:stretch>
              <a:fillRect/>
            </a:stretch>
          </a:blipFill>
        </p:spPr>
      </p:sp>
      <p:sp>
        <p:nvSpPr>
          <p:cNvPr id="17" name="TextBox 17"/>
          <p:cNvSpPr txBox="1"/>
          <p:nvPr/>
        </p:nvSpPr>
        <p:spPr>
          <a:xfrm>
            <a:off x="1112694" y="2440940"/>
            <a:ext cx="6462712" cy="2702560"/>
          </a:xfrm>
          <a:prstGeom prst="rect">
            <a:avLst/>
          </a:prstGeom>
        </p:spPr>
        <p:txBody>
          <a:bodyPr lIns="0" tIns="0" rIns="0" bIns="0" rtlCol="0" anchor="t">
            <a:spAutoFit/>
          </a:bodyPr>
          <a:lstStyle/>
          <a:p>
            <a:pPr algn="l">
              <a:lnSpc>
                <a:spcPts val="10400"/>
              </a:lnSpc>
            </a:pPr>
            <a:r>
              <a:rPr lang="en-US" sz="10400">
                <a:solidFill>
                  <a:srgbClr val="0D0D0D"/>
                </a:solidFill>
                <a:latin typeface="Neue Montreal"/>
                <a:ea typeface="Neue Montreal"/>
                <a:cs typeface="Neue Montreal"/>
                <a:sym typeface="Neue Montreal"/>
              </a:rPr>
              <a:t>Project Workflow</a:t>
            </a:r>
          </a:p>
        </p:txBody>
      </p:sp>
      <p:sp>
        <p:nvSpPr>
          <p:cNvPr id="18" name="TextBox 18"/>
          <p:cNvSpPr txBox="1"/>
          <p:nvPr/>
        </p:nvSpPr>
        <p:spPr>
          <a:xfrm>
            <a:off x="11379860" y="9640690"/>
            <a:ext cx="2948601"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App  Interface</a:t>
            </a:r>
          </a:p>
        </p:txBody>
      </p:sp>
      <p:sp>
        <p:nvSpPr>
          <p:cNvPr id="19" name="TextBox 19"/>
          <p:cNvSpPr txBox="1"/>
          <p:nvPr/>
        </p:nvSpPr>
        <p:spPr>
          <a:xfrm>
            <a:off x="1019175" y="6511230"/>
            <a:ext cx="6462712" cy="2463383"/>
          </a:xfrm>
          <a:prstGeom prst="rect">
            <a:avLst/>
          </a:prstGeom>
        </p:spPr>
        <p:txBody>
          <a:bodyPr lIns="0" tIns="0" rIns="0" bIns="0" rtlCol="0" anchor="t">
            <a:spAutoFit/>
          </a:bodyPr>
          <a:lstStyle/>
          <a:p>
            <a:pPr algn="l">
              <a:lnSpc>
                <a:spcPts val="2800"/>
              </a:lnSpc>
            </a:pPr>
            <a:r>
              <a:rPr lang="en-US" sz="2000">
                <a:solidFill>
                  <a:srgbClr val="0D0D0D"/>
                </a:solidFill>
                <a:latin typeface="Inter"/>
                <a:ea typeface="Inter"/>
                <a:cs typeface="Inter"/>
                <a:sym typeface="Inter"/>
              </a:rPr>
              <a:t>The salary prediction app collects user input data (like experience and satisfaction level), preprocesses and scales it, and then applies trained regression models to generate an estimated salary in real-time through the Streamlit interface. The workflow covers data cleaning, feature selection, model training, and interactive prediction for easy and accurate results.</a:t>
            </a:r>
          </a:p>
        </p:txBody>
      </p:sp>
      <p:sp>
        <p:nvSpPr>
          <p:cNvPr id="20" name="TextBox 20"/>
          <p:cNvSpPr txBox="1"/>
          <p:nvPr/>
        </p:nvSpPr>
        <p:spPr>
          <a:xfrm>
            <a:off x="2071651" y="1107139"/>
            <a:ext cx="3495749" cy="976511"/>
          </a:xfrm>
          <a:prstGeom prst="rect">
            <a:avLst/>
          </a:prstGeom>
        </p:spPr>
        <p:txBody>
          <a:bodyPr lIns="0" tIns="0" rIns="0" bIns="0" rtlCol="0" anchor="t">
            <a:spAutoFit/>
          </a:bodyPr>
          <a:lstStyle/>
          <a:p>
            <a:pPr algn="l">
              <a:lnSpc>
                <a:spcPts val="3919"/>
              </a:lnSpc>
            </a:pPr>
            <a:r>
              <a:rPr lang="en-US" sz="2799" b="1">
                <a:solidFill>
                  <a:srgbClr val="0D0D0D"/>
                </a:solidFill>
                <a:latin typeface="Neue Montreal Bold"/>
                <a:ea typeface="Neue Montreal Bold"/>
                <a:cs typeface="Neue Montreal Bold"/>
                <a:sym typeface="Neue Montreal Bold"/>
              </a:rPr>
              <a:t>Salary Prediction </a:t>
            </a:r>
          </a:p>
          <a:p>
            <a:pPr marL="0" lvl="0" indent="0" algn="l">
              <a:lnSpc>
                <a:spcPts val="3919"/>
              </a:lnSpc>
              <a:spcBef>
                <a:spcPct val="0"/>
              </a:spcBef>
            </a:pPr>
            <a:endParaRPr lang="en-US" sz="2799" b="1">
              <a:solidFill>
                <a:srgbClr val="0D0D0D"/>
              </a:solidFill>
              <a:latin typeface="Neue Montreal Bold"/>
              <a:ea typeface="Neue Montreal Bold"/>
              <a:cs typeface="Neue Montreal Bold"/>
              <a:sym typeface="Neue Montreal Bold"/>
            </a:endParaRPr>
          </a:p>
        </p:txBody>
      </p:sp>
      <p:pic>
        <p:nvPicPr>
          <p:cNvPr id="22" name="Picture 21">
            <a:extLst>
              <a:ext uri="{FF2B5EF4-FFF2-40B4-BE49-F238E27FC236}">
                <a16:creationId xmlns:a16="http://schemas.microsoft.com/office/drawing/2014/main" id="{3ADF1684-380E-8FE9-6FD4-7AED868C32C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45403" y="1123211"/>
            <a:ext cx="7772400" cy="5652655"/>
          </a:xfrm>
          <a:prstGeom prst="rect">
            <a:avLst/>
          </a:prstGeom>
        </p:spPr>
      </p:pic>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76038" y="2570205"/>
            <a:ext cx="6810068" cy="2702560"/>
          </a:xfrm>
          <a:prstGeom prst="rect">
            <a:avLst/>
          </a:prstGeom>
        </p:spPr>
        <p:txBody>
          <a:bodyPr lIns="0" tIns="0" rIns="0" bIns="0" rtlCol="0" anchor="t">
            <a:spAutoFit/>
          </a:bodyPr>
          <a:lstStyle/>
          <a:p>
            <a:pPr algn="l">
              <a:lnSpc>
                <a:spcPts val="10400"/>
              </a:lnSpc>
            </a:pPr>
            <a:r>
              <a:rPr lang="en-US" sz="10400">
                <a:solidFill>
                  <a:srgbClr val="0D0D0D"/>
                </a:solidFill>
                <a:latin typeface="Neue Montreal"/>
                <a:ea typeface="Neue Montreal"/>
                <a:cs typeface="Neue Montreal"/>
                <a:sym typeface="Neue Montreal"/>
              </a:rPr>
              <a:t>Applications</a:t>
            </a:r>
          </a:p>
          <a:p>
            <a:pPr algn="l">
              <a:lnSpc>
                <a:spcPts val="10400"/>
              </a:lnSpc>
            </a:pPr>
            <a:endParaRPr lang="en-US" sz="10400">
              <a:solidFill>
                <a:srgbClr val="0D0D0D"/>
              </a:solidFill>
              <a:latin typeface="Neue Montreal"/>
              <a:ea typeface="Neue Montreal"/>
              <a:cs typeface="Neue Montreal"/>
              <a:sym typeface="Neue Montreal"/>
            </a:endParaRPr>
          </a:p>
        </p:txBody>
      </p:sp>
      <p:sp>
        <p:nvSpPr>
          <p:cNvPr id="3" name="Freeform 3"/>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071651" y="1107139"/>
            <a:ext cx="3495749" cy="976511"/>
          </a:xfrm>
          <a:prstGeom prst="rect">
            <a:avLst/>
          </a:prstGeom>
        </p:spPr>
        <p:txBody>
          <a:bodyPr lIns="0" tIns="0" rIns="0" bIns="0" rtlCol="0" anchor="t">
            <a:spAutoFit/>
          </a:bodyPr>
          <a:lstStyle/>
          <a:p>
            <a:pPr algn="l">
              <a:lnSpc>
                <a:spcPts val="3919"/>
              </a:lnSpc>
            </a:pPr>
            <a:r>
              <a:rPr lang="en-US" sz="2799" b="1">
                <a:solidFill>
                  <a:srgbClr val="0D0D0D"/>
                </a:solidFill>
                <a:latin typeface="Neue Montreal Bold"/>
                <a:ea typeface="Neue Montreal Bold"/>
                <a:cs typeface="Neue Montreal Bold"/>
                <a:sym typeface="Neue Montreal Bold"/>
              </a:rPr>
              <a:t>Salary Prediction </a:t>
            </a:r>
          </a:p>
          <a:p>
            <a:pPr marL="0" lvl="0" indent="0" algn="l">
              <a:lnSpc>
                <a:spcPts val="3919"/>
              </a:lnSpc>
              <a:spcBef>
                <a:spcPct val="0"/>
              </a:spcBef>
            </a:pPr>
            <a:endParaRPr lang="en-US" sz="2799" b="1">
              <a:solidFill>
                <a:srgbClr val="0D0D0D"/>
              </a:solidFill>
              <a:latin typeface="Neue Montreal Bold"/>
              <a:ea typeface="Neue Montreal Bold"/>
              <a:cs typeface="Neue Montreal Bold"/>
              <a:sym typeface="Neue Montreal Bold"/>
            </a:endParaRPr>
          </a:p>
        </p:txBody>
      </p:sp>
      <p:grpSp>
        <p:nvGrpSpPr>
          <p:cNvPr id="5" name="Group 5"/>
          <p:cNvGrpSpPr/>
          <p:nvPr/>
        </p:nvGrpSpPr>
        <p:grpSpPr>
          <a:xfrm>
            <a:off x="15391411" y="1072430"/>
            <a:ext cx="1973653" cy="784945"/>
            <a:chOff x="0" y="0"/>
            <a:chExt cx="519810" cy="206735"/>
          </a:xfrm>
        </p:grpSpPr>
        <p:sp>
          <p:nvSpPr>
            <p:cNvPr id="6" name="Freeform 6"/>
            <p:cNvSpPr/>
            <p:nvPr/>
          </p:nvSpPr>
          <p:spPr>
            <a:xfrm>
              <a:off x="0" y="0"/>
              <a:ext cx="519810" cy="206735"/>
            </a:xfrm>
            <a:custGeom>
              <a:avLst/>
              <a:gdLst/>
              <a:ahLst/>
              <a:cxnLst/>
              <a:rect l="l" t="t" r="r" b="b"/>
              <a:pathLst>
                <a:path w="519810" h="206735">
                  <a:moveTo>
                    <a:pt x="103367" y="0"/>
                  </a:moveTo>
                  <a:lnTo>
                    <a:pt x="416443" y="0"/>
                  </a:lnTo>
                  <a:cubicBezTo>
                    <a:pt x="443857" y="0"/>
                    <a:pt x="470149" y="10890"/>
                    <a:pt x="489534" y="30276"/>
                  </a:cubicBezTo>
                  <a:cubicBezTo>
                    <a:pt x="508919" y="49661"/>
                    <a:pt x="519810" y="75953"/>
                    <a:pt x="519810" y="103367"/>
                  </a:cubicBezTo>
                  <a:lnTo>
                    <a:pt x="519810" y="103367"/>
                  </a:lnTo>
                  <a:cubicBezTo>
                    <a:pt x="519810" y="130782"/>
                    <a:pt x="508919" y="157074"/>
                    <a:pt x="489534" y="176459"/>
                  </a:cubicBezTo>
                  <a:cubicBezTo>
                    <a:pt x="470149" y="195844"/>
                    <a:pt x="443857" y="206735"/>
                    <a:pt x="41644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id="7" name="TextBox 7"/>
            <p:cNvSpPr txBox="1"/>
            <p:nvPr/>
          </p:nvSpPr>
          <p:spPr>
            <a:xfrm>
              <a:off x="0" y="-38100"/>
              <a:ext cx="519810" cy="244835"/>
            </a:xfrm>
            <a:prstGeom prst="rect">
              <a:avLst/>
            </a:prstGeom>
          </p:spPr>
          <p:txBody>
            <a:bodyPr lIns="50800" tIns="50800" rIns="50800" bIns="50800" rtlCol="0" anchor="ctr"/>
            <a:lstStyle/>
            <a:p>
              <a:pPr algn="ctr">
                <a:lnSpc>
                  <a:spcPts val="2520"/>
                </a:lnSpc>
              </a:pPr>
              <a:endParaRPr/>
            </a:p>
          </p:txBody>
        </p:sp>
      </p:grpSp>
      <p:sp>
        <p:nvSpPr>
          <p:cNvPr id="8" name="TextBox 8"/>
          <p:cNvSpPr txBox="1"/>
          <p:nvPr/>
        </p:nvSpPr>
        <p:spPr>
          <a:xfrm>
            <a:off x="15290374" y="1258210"/>
            <a:ext cx="1663377" cy="365760"/>
          </a:xfrm>
          <a:prstGeom prst="rect">
            <a:avLst/>
          </a:prstGeom>
        </p:spPr>
        <p:txBody>
          <a:bodyPr lIns="0" tIns="0" rIns="0" bIns="0" rtlCol="0" anchor="t">
            <a:spAutoFit/>
          </a:bodyPr>
          <a:lstStyle/>
          <a:p>
            <a:pPr marL="0" lvl="0" indent="0" algn="r">
              <a:lnSpc>
                <a:spcPts val="2940"/>
              </a:lnSpc>
              <a:spcBef>
                <a:spcPct val="0"/>
              </a:spcBef>
            </a:pPr>
            <a:r>
              <a:rPr lang="en-US" sz="2100">
                <a:solidFill>
                  <a:srgbClr val="FFFFFF"/>
                </a:solidFill>
                <a:latin typeface="Neue Montreal"/>
                <a:ea typeface="Neue Montreal"/>
                <a:cs typeface="Neue Montreal"/>
                <a:sym typeface="Neue Montreal"/>
              </a:rPr>
              <a:t>Page 4</a:t>
            </a:r>
          </a:p>
        </p:txBody>
      </p:sp>
      <p:grpSp>
        <p:nvGrpSpPr>
          <p:cNvPr id="9" name="Group 9"/>
          <p:cNvGrpSpPr/>
          <p:nvPr/>
        </p:nvGrpSpPr>
        <p:grpSpPr>
          <a:xfrm>
            <a:off x="15623026" y="1344472"/>
            <a:ext cx="240861" cy="24086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12" name="TextBox 12"/>
          <p:cNvSpPr txBox="1"/>
          <p:nvPr/>
        </p:nvSpPr>
        <p:spPr>
          <a:xfrm>
            <a:off x="785989" y="4220498"/>
            <a:ext cx="12563014" cy="5593119"/>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0D0D0D"/>
                </a:solidFill>
                <a:latin typeface="Avenir"/>
                <a:ea typeface="Avenir"/>
                <a:cs typeface="Avenir"/>
                <a:sym typeface="Avenir"/>
              </a:rPr>
              <a:t>Assists HR professionals in automating and standardizing salary offers using data-driven predictions.​</a:t>
            </a:r>
          </a:p>
          <a:p>
            <a:pPr marL="539748" lvl="1" indent="-269874" algn="l">
              <a:lnSpc>
                <a:spcPts val="3499"/>
              </a:lnSpc>
              <a:buFont typeface="Arial"/>
              <a:buChar char="•"/>
            </a:pPr>
            <a:r>
              <a:rPr lang="en-US" sz="2499">
                <a:solidFill>
                  <a:srgbClr val="0D0D0D"/>
                </a:solidFill>
                <a:latin typeface="Avenir"/>
                <a:ea typeface="Avenir"/>
                <a:cs typeface="Avenir"/>
                <a:sym typeface="Avenir"/>
              </a:rPr>
              <a:t>Enables job seekers to estimate expected salaries and make informed career decisions.​</a:t>
            </a:r>
          </a:p>
          <a:p>
            <a:pPr marL="539748" lvl="1" indent="-269874" algn="l">
              <a:lnSpc>
                <a:spcPts val="3499"/>
              </a:lnSpc>
              <a:buFont typeface="Arial"/>
              <a:buChar char="•"/>
            </a:pPr>
            <a:r>
              <a:rPr lang="en-US" sz="2499">
                <a:solidFill>
                  <a:srgbClr val="0D0D0D"/>
                </a:solidFill>
                <a:latin typeface="Avenir"/>
                <a:ea typeface="Avenir"/>
                <a:cs typeface="Avenir"/>
                <a:sym typeface="Avenir"/>
              </a:rPr>
              <a:t>Helps companies identify competitive pay ranges to attract and retain top talent.​</a:t>
            </a:r>
          </a:p>
          <a:p>
            <a:pPr marL="539748" lvl="1" indent="-269874" algn="l">
              <a:lnSpc>
                <a:spcPts val="3499"/>
              </a:lnSpc>
              <a:buFont typeface="Arial"/>
              <a:buChar char="•"/>
            </a:pPr>
            <a:r>
              <a:rPr lang="en-US" sz="2499">
                <a:solidFill>
                  <a:srgbClr val="0D0D0D"/>
                </a:solidFill>
                <a:latin typeface="Avenir"/>
                <a:ea typeface="Avenir"/>
                <a:cs typeface="Avenir"/>
                <a:sym typeface="Avenir"/>
              </a:rPr>
              <a:t>Provides insights into market trends, department-wise salary averages, and position level growth.​</a:t>
            </a:r>
          </a:p>
          <a:p>
            <a:pPr marL="539748" lvl="1" indent="-269874" algn="l">
              <a:lnSpc>
                <a:spcPts val="3499"/>
              </a:lnSpc>
              <a:buFont typeface="Arial"/>
              <a:buChar char="•"/>
            </a:pPr>
            <a:r>
              <a:rPr lang="en-US" sz="2499">
                <a:solidFill>
                  <a:srgbClr val="0D0D0D"/>
                </a:solidFill>
                <a:latin typeface="Avenir"/>
                <a:ea typeface="Avenir"/>
                <a:cs typeface="Avenir"/>
                <a:sym typeface="Avenir"/>
              </a:rPr>
              <a:t>Acts as an educational tool to demonstrate data analysis and regression techniques in practical scenarios.​</a:t>
            </a:r>
          </a:p>
          <a:p>
            <a:pPr marL="539748" lvl="1" indent="-269874" algn="l">
              <a:lnSpc>
                <a:spcPts val="3499"/>
              </a:lnSpc>
              <a:buFont typeface="Arial"/>
              <a:buChar char="•"/>
            </a:pPr>
            <a:r>
              <a:rPr lang="en-US" sz="2499">
                <a:solidFill>
                  <a:srgbClr val="0D0D0D"/>
                </a:solidFill>
                <a:latin typeface="Avenir"/>
                <a:ea typeface="Avenir"/>
                <a:cs typeface="Avenir"/>
                <a:sym typeface="Avenir"/>
              </a:rPr>
              <a:t>Supports fairness and transparency in salary negotiations, fostering positive relationships between employers and employees</a:t>
            </a:r>
          </a:p>
          <a:p>
            <a:pPr algn="l">
              <a:lnSpc>
                <a:spcPts val="3359"/>
              </a:lnSpc>
            </a:pPr>
            <a:endParaRPr lang="en-US" sz="2499">
              <a:solidFill>
                <a:srgbClr val="0D0D0D"/>
              </a:solidFill>
              <a:latin typeface="Avenir"/>
              <a:ea typeface="Avenir"/>
              <a:cs typeface="Avenir"/>
              <a:sym typeface="Avenir"/>
            </a:endParaRPr>
          </a:p>
          <a:p>
            <a:pPr algn="l">
              <a:lnSpc>
                <a:spcPts val="2520"/>
              </a:lnSpc>
            </a:pPr>
            <a:endParaRPr lang="en-US" sz="2499">
              <a:solidFill>
                <a:srgbClr val="0D0D0D"/>
              </a:solidFill>
              <a:latin typeface="Avenir"/>
              <a:ea typeface="Avenir"/>
              <a:cs typeface="Avenir"/>
              <a:sym typeface="Avenir"/>
            </a:endParaRPr>
          </a:p>
        </p:txBody>
      </p:sp>
      <p:sp>
        <p:nvSpPr>
          <p:cNvPr id="13" name="Freeform 13"/>
          <p:cNvSpPr/>
          <p:nvPr/>
        </p:nvSpPr>
        <p:spPr>
          <a:xfrm rot="-1519681">
            <a:off x="1270348" y="1915089"/>
            <a:ext cx="20605946" cy="10569133"/>
          </a:xfrm>
          <a:custGeom>
            <a:avLst/>
            <a:gdLst/>
            <a:ahLst/>
            <a:cxnLst/>
            <a:rect l="l" t="t" r="r" b="b"/>
            <a:pathLst>
              <a:path w="20605946" h="10569133">
                <a:moveTo>
                  <a:pt x="0" y="0"/>
                </a:moveTo>
                <a:lnTo>
                  <a:pt x="20605946" y="0"/>
                </a:lnTo>
                <a:lnTo>
                  <a:pt x="20605946" y="10569134"/>
                </a:lnTo>
                <a:lnTo>
                  <a:pt x="0" y="10569134"/>
                </a:lnTo>
                <a:lnTo>
                  <a:pt x="0" y="0"/>
                </a:lnTo>
                <a:close/>
              </a:path>
            </a:pathLst>
          </a:custGeom>
          <a:blipFill>
            <a:blip r:embed="rId4">
              <a:alphaModFix amt="15000"/>
              <a:extLst>
                <a:ext uri="{96DAC541-7B7A-43D3-8B79-37D633B846F1}">
                  <asvg:svgBlip xmlns:asvg="http://schemas.microsoft.com/office/drawing/2016/SVG/main" r:embed="rId5"/>
                </a:ext>
              </a:extLst>
            </a:blip>
            <a:stretch>
              <a:fillRect/>
            </a:stretch>
          </a:blipFill>
        </p:spPr>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7667" y="2862263"/>
            <a:ext cx="7974555" cy="2233523"/>
          </a:xfrm>
          <a:prstGeom prst="rect">
            <a:avLst/>
          </a:prstGeom>
        </p:spPr>
        <p:txBody>
          <a:bodyPr lIns="0" tIns="0" rIns="0" bIns="0" rtlCol="0" anchor="t">
            <a:spAutoFit/>
          </a:bodyPr>
          <a:lstStyle/>
          <a:p>
            <a:pPr algn="l">
              <a:lnSpc>
                <a:spcPts val="8573"/>
              </a:lnSpc>
            </a:pPr>
            <a:r>
              <a:rPr lang="en-US" sz="8573">
                <a:solidFill>
                  <a:srgbClr val="0D0D0D"/>
                </a:solidFill>
                <a:latin typeface="Neue Montreal"/>
                <a:ea typeface="Neue Montreal"/>
                <a:cs typeface="Neue Montreal"/>
                <a:sym typeface="Neue Montreal"/>
              </a:rPr>
              <a:t>Problems Faced &amp; Solutions</a:t>
            </a:r>
          </a:p>
        </p:txBody>
      </p:sp>
      <p:sp>
        <p:nvSpPr>
          <p:cNvPr id="3" name="TextBox 3"/>
          <p:cNvSpPr txBox="1"/>
          <p:nvPr/>
        </p:nvSpPr>
        <p:spPr>
          <a:xfrm>
            <a:off x="1028700" y="7029747"/>
            <a:ext cx="6462712" cy="1589405"/>
          </a:xfrm>
          <a:prstGeom prst="rect">
            <a:avLst/>
          </a:prstGeom>
        </p:spPr>
        <p:txBody>
          <a:bodyPr lIns="0" tIns="0" rIns="0" bIns="0" rtlCol="0" anchor="t">
            <a:spAutoFit/>
          </a:bodyPr>
          <a:lstStyle/>
          <a:p>
            <a:pPr algn="l">
              <a:lnSpc>
                <a:spcPts val="3219"/>
              </a:lnSpc>
            </a:pPr>
            <a:r>
              <a:rPr lang="en-US" sz="2299">
                <a:solidFill>
                  <a:srgbClr val="0D0D0D"/>
                </a:solidFill>
                <a:latin typeface="Inter"/>
                <a:ea typeface="Inter"/>
                <a:cs typeface="Inter"/>
                <a:sym typeface="Inter"/>
              </a:rPr>
              <a:t>Developing the salary prediction app involved several technical and design challenges; each was addressed with targeted solutions for robust results.</a:t>
            </a:r>
          </a:p>
        </p:txBody>
      </p:sp>
      <p:grpSp>
        <p:nvGrpSpPr>
          <p:cNvPr id="4" name="Group 4"/>
          <p:cNvGrpSpPr/>
          <p:nvPr/>
        </p:nvGrpSpPr>
        <p:grpSpPr>
          <a:xfrm>
            <a:off x="9046970" y="2305536"/>
            <a:ext cx="2638390" cy="567374"/>
            <a:chOff x="0" y="0"/>
            <a:chExt cx="694885" cy="149432"/>
          </a:xfrm>
        </p:grpSpPr>
        <p:sp>
          <p:nvSpPr>
            <p:cNvPr id="5" name="Freeform 5"/>
            <p:cNvSpPr/>
            <p:nvPr/>
          </p:nvSpPr>
          <p:spPr>
            <a:xfrm>
              <a:off x="0" y="0"/>
              <a:ext cx="694885" cy="149432"/>
            </a:xfrm>
            <a:custGeom>
              <a:avLst/>
              <a:gdLst/>
              <a:ahLst/>
              <a:cxnLst/>
              <a:rect l="l" t="t" r="r" b="b"/>
              <a:pathLst>
                <a:path w="694885" h="149432">
                  <a:moveTo>
                    <a:pt x="74716" y="0"/>
                  </a:moveTo>
                  <a:lnTo>
                    <a:pt x="620169" y="0"/>
                  </a:lnTo>
                  <a:cubicBezTo>
                    <a:pt x="639985" y="0"/>
                    <a:pt x="658989" y="7872"/>
                    <a:pt x="673001" y="21884"/>
                  </a:cubicBezTo>
                  <a:cubicBezTo>
                    <a:pt x="687013" y="35896"/>
                    <a:pt x="694885" y="54900"/>
                    <a:pt x="694885" y="74716"/>
                  </a:cubicBezTo>
                  <a:lnTo>
                    <a:pt x="694885" y="74716"/>
                  </a:lnTo>
                  <a:cubicBezTo>
                    <a:pt x="694885" y="94532"/>
                    <a:pt x="687013" y="113536"/>
                    <a:pt x="673001" y="127548"/>
                  </a:cubicBezTo>
                  <a:cubicBezTo>
                    <a:pt x="658989" y="141560"/>
                    <a:pt x="639985" y="149432"/>
                    <a:pt x="620169"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68DE68"/>
            </a:solidFill>
          </p:spPr>
        </p:sp>
        <p:sp>
          <p:nvSpPr>
            <p:cNvPr id="6" name="TextBox 6"/>
            <p:cNvSpPr txBox="1"/>
            <p:nvPr/>
          </p:nvSpPr>
          <p:spPr>
            <a:xfrm>
              <a:off x="0" y="-38100"/>
              <a:ext cx="694885" cy="187532"/>
            </a:xfrm>
            <a:prstGeom prst="rect">
              <a:avLst/>
            </a:prstGeom>
          </p:spPr>
          <p:txBody>
            <a:bodyPr lIns="50800" tIns="50800" rIns="50800" bIns="50800" rtlCol="0" anchor="ctr"/>
            <a:lstStyle/>
            <a:p>
              <a:pPr algn="l">
                <a:lnSpc>
                  <a:spcPts val="2520"/>
                </a:lnSpc>
              </a:pPr>
              <a:endParaRPr/>
            </a:p>
          </p:txBody>
        </p:sp>
      </p:grpSp>
      <p:grpSp>
        <p:nvGrpSpPr>
          <p:cNvPr id="7" name="Group 7"/>
          <p:cNvGrpSpPr/>
          <p:nvPr/>
        </p:nvGrpSpPr>
        <p:grpSpPr>
          <a:xfrm>
            <a:off x="9046970" y="5531167"/>
            <a:ext cx="3735422" cy="567374"/>
            <a:chOff x="0" y="0"/>
            <a:chExt cx="983815" cy="149432"/>
          </a:xfrm>
        </p:grpSpPr>
        <p:sp>
          <p:nvSpPr>
            <p:cNvPr id="8" name="Freeform 8"/>
            <p:cNvSpPr/>
            <p:nvPr/>
          </p:nvSpPr>
          <p:spPr>
            <a:xfrm>
              <a:off x="0" y="0"/>
              <a:ext cx="983815" cy="149432"/>
            </a:xfrm>
            <a:custGeom>
              <a:avLst/>
              <a:gdLst/>
              <a:ahLst/>
              <a:cxnLst/>
              <a:rect l="l" t="t" r="r" b="b"/>
              <a:pathLst>
                <a:path w="983815" h="149432">
                  <a:moveTo>
                    <a:pt x="74716" y="0"/>
                  </a:moveTo>
                  <a:lnTo>
                    <a:pt x="909099" y="0"/>
                  </a:lnTo>
                  <a:cubicBezTo>
                    <a:pt x="928915" y="0"/>
                    <a:pt x="947919" y="7872"/>
                    <a:pt x="961931" y="21884"/>
                  </a:cubicBezTo>
                  <a:cubicBezTo>
                    <a:pt x="975943" y="35896"/>
                    <a:pt x="983815" y="54900"/>
                    <a:pt x="983815" y="74716"/>
                  </a:cubicBezTo>
                  <a:lnTo>
                    <a:pt x="983815" y="74716"/>
                  </a:lnTo>
                  <a:cubicBezTo>
                    <a:pt x="983815" y="94532"/>
                    <a:pt x="975943" y="113536"/>
                    <a:pt x="961931" y="127548"/>
                  </a:cubicBezTo>
                  <a:cubicBezTo>
                    <a:pt x="947919" y="141560"/>
                    <a:pt x="928915" y="149432"/>
                    <a:pt x="909099"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68DE68"/>
            </a:solidFill>
          </p:spPr>
        </p:sp>
        <p:sp>
          <p:nvSpPr>
            <p:cNvPr id="9" name="TextBox 9"/>
            <p:cNvSpPr txBox="1"/>
            <p:nvPr/>
          </p:nvSpPr>
          <p:spPr>
            <a:xfrm>
              <a:off x="0" y="-38100"/>
              <a:ext cx="983815" cy="187532"/>
            </a:xfrm>
            <a:prstGeom prst="rect">
              <a:avLst/>
            </a:prstGeom>
          </p:spPr>
          <p:txBody>
            <a:bodyPr lIns="50800" tIns="50800" rIns="50800" bIns="50800" rtlCol="0" anchor="ctr"/>
            <a:lstStyle/>
            <a:p>
              <a:pPr algn="l">
                <a:lnSpc>
                  <a:spcPts val="2520"/>
                </a:lnSpc>
              </a:pPr>
              <a:endParaRPr/>
            </a:p>
          </p:txBody>
        </p:sp>
      </p:grpSp>
      <p:grpSp>
        <p:nvGrpSpPr>
          <p:cNvPr id="10" name="Group 10"/>
          <p:cNvGrpSpPr/>
          <p:nvPr/>
        </p:nvGrpSpPr>
        <p:grpSpPr>
          <a:xfrm>
            <a:off x="13587412" y="2297133"/>
            <a:ext cx="3557179" cy="567374"/>
            <a:chOff x="0" y="0"/>
            <a:chExt cx="936870" cy="149432"/>
          </a:xfrm>
        </p:grpSpPr>
        <p:sp>
          <p:nvSpPr>
            <p:cNvPr id="11" name="Freeform 11"/>
            <p:cNvSpPr/>
            <p:nvPr/>
          </p:nvSpPr>
          <p:spPr>
            <a:xfrm>
              <a:off x="0" y="0"/>
              <a:ext cx="936870" cy="149432"/>
            </a:xfrm>
            <a:custGeom>
              <a:avLst/>
              <a:gdLst/>
              <a:ahLst/>
              <a:cxnLst/>
              <a:rect l="l" t="t" r="r" b="b"/>
              <a:pathLst>
                <a:path w="936870" h="149432">
                  <a:moveTo>
                    <a:pt x="74716" y="0"/>
                  </a:moveTo>
                  <a:lnTo>
                    <a:pt x="862154" y="0"/>
                  </a:lnTo>
                  <a:cubicBezTo>
                    <a:pt x="881970" y="0"/>
                    <a:pt x="900975" y="7872"/>
                    <a:pt x="914986" y="21884"/>
                  </a:cubicBezTo>
                  <a:cubicBezTo>
                    <a:pt x="928998" y="35896"/>
                    <a:pt x="936870" y="54900"/>
                    <a:pt x="936870" y="74716"/>
                  </a:cubicBezTo>
                  <a:lnTo>
                    <a:pt x="936870" y="74716"/>
                  </a:lnTo>
                  <a:cubicBezTo>
                    <a:pt x="936870" y="94532"/>
                    <a:pt x="928998" y="113536"/>
                    <a:pt x="914986" y="127548"/>
                  </a:cubicBezTo>
                  <a:cubicBezTo>
                    <a:pt x="900975" y="141560"/>
                    <a:pt x="881970" y="149432"/>
                    <a:pt x="862154"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68DE68"/>
            </a:solidFill>
          </p:spPr>
        </p:sp>
        <p:sp>
          <p:nvSpPr>
            <p:cNvPr id="12" name="TextBox 12"/>
            <p:cNvSpPr txBox="1"/>
            <p:nvPr/>
          </p:nvSpPr>
          <p:spPr>
            <a:xfrm>
              <a:off x="0" y="-38100"/>
              <a:ext cx="936870" cy="187532"/>
            </a:xfrm>
            <a:prstGeom prst="rect">
              <a:avLst/>
            </a:prstGeom>
          </p:spPr>
          <p:txBody>
            <a:bodyPr lIns="50800" tIns="50800" rIns="50800" bIns="50800" rtlCol="0" anchor="ctr"/>
            <a:lstStyle/>
            <a:p>
              <a:pPr algn="l">
                <a:lnSpc>
                  <a:spcPts val="2520"/>
                </a:lnSpc>
              </a:pPr>
              <a:endParaRPr/>
            </a:p>
          </p:txBody>
        </p:sp>
      </p:grpSp>
      <p:grpSp>
        <p:nvGrpSpPr>
          <p:cNvPr id="13" name="Group 13"/>
          <p:cNvGrpSpPr/>
          <p:nvPr/>
        </p:nvGrpSpPr>
        <p:grpSpPr>
          <a:xfrm>
            <a:off x="13587412" y="5531167"/>
            <a:ext cx="3385016" cy="567374"/>
            <a:chOff x="0" y="0"/>
            <a:chExt cx="891527" cy="149432"/>
          </a:xfrm>
        </p:grpSpPr>
        <p:sp>
          <p:nvSpPr>
            <p:cNvPr id="14" name="Freeform 14"/>
            <p:cNvSpPr/>
            <p:nvPr/>
          </p:nvSpPr>
          <p:spPr>
            <a:xfrm>
              <a:off x="0" y="0"/>
              <a:ext cx="891527" cy="149432"/>
            </a:xfrm>
            <a:custGeom>
              <a:avLst/>
              <a:gdLst/>
              <a:ahLst/>
              <a:cxnLst/>
              <a:rect l="l" t="t" r="r" b="b"/>
              <a:pathLst>
                <a:path w="891527" h="149432">
                  <a:moveTo>
                    <a:pt x="74716" y="0"/>
                  </a:moveTo>
                  <a:lnTo>
                    <a:pt x="816811" y="0"/>
                  </a:lnTo>
                  <a:cubicBezTo>
                    <a:pt x="836627" y="0"/>
                    <a:pt x="855631" y="7872"/>
                    <a:pt x="869643" y="21884"/>
                  </a:cubicBezTo>
                  <a:cubicBezTo>
                    <a:pt x="883655" y="35896"/>
                    <a:pt x="891527" y="54900"/>
                    <a:pt x="891527" y="74716"/>
                  </a:cubicBezTo>
                  <a:lnTo>
                    <a:pt x="891527" y="74716"/>
                  </a:lnTo>
                  <a:cubicBezTo>
                    <a:pt x="891527" y="94532"/>
                    <a:pt x="883655" y="113536"/>
                    <a:pt x="869643" y="127548"/>
                  </a:cubicBezTo>
                  <a:cubicBezTo>
                    <a:pt x="855631" y="141560"/>
                    <a:pt x="836627" y="149432"/>
                    <a:pt x="816811"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68DE68"/>
            </a:solidFill>
          </p:spPr>
        </p:sp>
        <p:sp>
          <p:nvSpPr>
            <p:cNvPr id="15" name="TextBox 15"/>
            <p:cNvSpPr txBox="1"/>
            <p:nvPr/>
          </p:nvSpPr>
          <p:spPr>
            <a:xfrm>
              <a:off x="0" y="-38100"/>
              <a:ext cx="891527" cy="187532"/>
            </a:xfrm>
            <a:prstGeom prst="rect">
              <a:avLst/>
            </a:prstGeom>
          </p:spPr>
          <p:txBody>
            <a:bodyPr lIns="50800" tIns="50800" rIns="50800" bIns="50800" rtlCol="0" anchor="ctr"/>
            <a:lstStyle/>
            <a:p>
              <a:pPr algn="l">
                <a:lnSpc>
                  <a:spcPts val="2520"/>
                </a:lnSpc>
              </a:pPr>
              <a:endParaRPr/>
            </a:p>
          </p:txBody>
        </p:sp>
      </p:grpSp>
      <p:sp>
        <p:nvSpPr>
          <p:cNvPr id="16" name="TextBox 16"/>
          <p:cNvSpPr txBox="1"/>
          <p:nvPr/>
        </p:nvSpPr>
        <p:spPr>
          <a:xfrm>
            <a:off x="9250459" y="5608162"/>
            <a:ext cx="3822604"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Model Selection and Tuning:</a:t>
            </a:r>
          </a:p>
        </p:txBody>
      </p:sp>
      <p:sp>
        <p:nvSpPr>
          <p:cNvPr id="17" name="TextBox 17"/>
          <p:cNvSpPr txBox="1"/>
          <p:nvPr/>
        </p:nvSpPr>
        <p:spPr>
          <a:xfrm>
            <a:off x="13828749" y="2374127"/>
            <a:ext cx="3636479"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Feature Selection Difficulty:</a:t>
            </a:r>
          </a:p>
        </p:txBody>
      </p:sp>
      <p:sp>
        <p:nvSpPr>
          <p:cNvPr id="18" name="TextBox 18"/>
          <p:cNvSpPr txBox="1"/>
          <p:nvPr/>
        </p:nvSpPr>
        <p:spPr>
          <a:xfrm>
            <a:off x="13828749" y="5608162"/>
            <a:ext cx="3059076"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User Interface Limitations:</a:t>
            </a:r>
          </a:p>
        </p:txBody>
      </p:sp>
      <p:sp>
        <p:nvSpPr>
          <p:cNvPr id="19" name="TextBox 19"/>
          <p:cNvSpPr txBox="1"/>
          <p:nvPr/>
        </p:nvSpPr>
        <p:spPr>
          <a:xfrm>
            <a:off x="9046970" y="3082459"/>
            <a:ext cx="4026092" cy="2323881"/>
          </a:xfrm>
          <a:prstGeom prst="rect">
            <a:avLst/>
          </a:prstGeom>
        </p:spPr>
        <p:txBody>
          <a:bodyPr lIns="0" tIns="0" rIns="0" bIns="0" rtlCol="0" anchor="t">
            <a:spAutoFit/>
          </a:bodyPr>
          <a:lstStyle/>
          <a:p>
            <a:pPr algn="l">
              <a:lnSpc>
                <a:spcPts val="2660"/>
              </a:lnSpc>
            </a:pPr>
            <a:r>
              <a:rPr lang="en-US" sz="1900">
                <a:solidFill>
                  <a:srgbClr val="0D0D0D"/>
                </a:solidFill>
                <a:latin typeface="Inter"/>
                <a:ea typeface="Inter"/>
                <a:cs typeface="Inter"/>
                <a:sym typeface="Inter"/>
              </a:rPr>
              <a:t>The initial dataset had missing or duplicate entries, which could compromise model accuracy.</a:t>
            </a:r>
          </a:p>
          <a:p>
            <a:pPr algn="l">
              <a:lnSpc>
                <a:spcPts val="2660"/>
              </a:lnSpc>
            </a:pPr>
            <a:r>
              <a:rPr lang="en-US" sz="1900" u="sng">
                <a:solidFill>
                  <a:srgbClr val="0D0D0D"/>
                </a:solidFill>
                <a:latin typeface="Inter"/>
                <a:ea typeface="Inter"/>
                <a:cs typeface="Inter"/>
                <a:sym typeface="Inter"/>
              </a:rPr>
              <a:t>Solution: Used Pandas to clean, fill, or remove problematic rows, ensuring a reliable dataset for analysis.</a:t>
            </a:r>
          </a:p>
        </p:txBody>
      </p:sp>
      <p:sp>
        <p:nvSpPr>
          <p:cNvPr id="20" name="TextBox 20"/>
          <p:cNvSpPr txBox="1"/>
          <p:nvPr/>
        </p:nvSpPr>
        <p:spPr>
          <a:xfrm>
            <a:off x="9046970" y="6410622"/>
            <a:ext cx="4026092" cy="2657316"/>
          </a:xfrm>
          <a:prstGeom prst="rect">
            <a:avLst/>
          </a:prstGeom>
        </p:spPr>
        <p:txBody>
          <a:bodyPr lIns="0" tIns="0" rIns="0" bIns="0" rtlCol="0" anchor="t">
            <a:spAutoFit/>
          </a:bodyPr>
          <a:lstStyle/>
          <a:p>
            <a:pPr algn="l">
              <a:lnSpc>
                <a:spcPts val="2660"/>
              </a:lnSpc>
            </a:pPr>
            <a:r>
              <a:rPr lang="en-US" sz="1900">
                <a:solidFill>
                  <a:srgbClr val="0D0D0D"/>
                </a:solidFill>
                <a:latin typeface="Inter"/>
                <a:ea typeface="Inter"/>
                <a:cs typeface="Inter"/>
                <a:sym typeface="Inter"/>
              </a:rPr>
              <a:t>Achieving high accuracy required testing and comparing several algorithms.</a:t>
            </a:r>
          </a:p>
          <a:p>
            <a:pPr algn="l">
              <a:lnSpc>
                <a:spcPts val="2660"/>
              </a:lnSpc>
            </a:pPr>
            <a:r>
              <a:rPr lang="en-US" sz="1900" u="sng">
                <a:solidFill>
                  <a:srgbClr val="0D0D0D"/>
                </a:solidFill>
                <a:latin typeface="Inter"/>
                <a:ea typeface="Inter"/>
                <a:cs typeface="Inter"/>
                <a:sym typeface="Inter"/>
              </a:rPr>
              <a:t>Solution: Trained multiple regression models and optimized hyperparameters with GridSearchCV for the best performance</a:t>
            </a:r>
          </a:p>
        </p:txBody>
      </p:sp>
      <p:sp>
        <p:nvSpPr>
          <p:cNvPr id="21" name="TextBox 21"/>
          <p:cNvSpPr txBox="1"/>
          <p:nvPr/>
        </p:nvSpPr>
        <p:spPr>
          <a:xfrm>
            <a:off x="13509974" y="3076794"/>
            <a:ext cx="4466966" cy="2323881"/>
          </a:xfrm>
          <a:prstGeom prst="rect">
            <a:avLst/>
          </a:prstGeom>
        </p:spPr>
        <p:txBody>
          <a:bodyPr lIns="0" tIns="0" rIns="0" bIns="0" rtlCol="0" anchor="t">
            <a:spAutoFit/>
          </a:bodyPr>
          <a:lstStyle/>
          <a:p>
            <a:pPr algn="l">
              <a:lnSpc>
                <a:spcPts val="2660"/>
              </a:lnSpc>
            </a:pPr>
            <a:r>
              <a:rPr lang="en-US" sz="1900">
                <a:solidFill>
                  <a:srgbClr val="0D0D0D"/>
                </a:solidFill>
                <a:latin typeface="Inter"/>
                <a:ea typeface="Inter"/>
                <a:cs typeface="Inter"/>
                <a:sym typeface="Inter"/>
              </a:rPr>
              <a:t>Some variables introduced noise instead of contributing to prediction.</a:t>
            </a:r>
          </a:p>
          <a:p>
            <a:pPr algn="l">
              <a:lnSpc>
                <a:spcPts val="2660"/>
              </a:lnSpc>
            </a:pPr>
            <a:r>
              <a:rPr lang="en-US" sz="1900" u="sng">
                <a:solidFill>
                  <a:srgbClr val="0D0D0D"/>
                </a:solidFill>
                <a:latin typeface="Inter"/>
                <a:ea typeface="Inter"/>
                <a:cs typeface="Inter"/>
                <a:sym typeface="Inter"/>
              </a:rPr>
              <a:t>Solution: Performed correlation analysis and kept only the most relevant features such as experience, satisfaction level, and average work hours.</a:t>
            </a:r>
          </a:p>
        </p:txBody>
      </p:sp>
      <p:sp>
        <p:nvSpPr>
          <p:cNvPr id="22" name="TextBox 22"/>
          <p:cNvSpPr txBox="1"/>
          <p:nvPr/>
        </p:nvSpPr>
        <p:spPr>
          <a:xfrm>
            <a:off x="13634002" y="6410622"/>
            <a:ext cx="3625298" cy="2657316"/>
          </a:xfrm>
          <a:prstGeom prst="rect">
            <a:avLst/>
          </a:prstGeom>
        </p:spPr>
        <p:txBody>
          <a:bodyPr lIns="0" tIns="0" rIns="0" bIns="0" rtlCol="0" anchor="t">
            <a:spAutoFit/>
          </a:bodyPr>
          <a:lstStyle/>
          <a:p>
            <a:pPr algn="l">
              <a:lnSpc>
                <a:spcPts val="2660"/>
              </a:lnSpc>
            </a:pPr>
            <a:r>
              <a:rPr lang="en-US" sz="1900">
                <a:solidFill>
                  <a:srgbClr val="0D0D0D"/>
                </a:solidFill>
                <a:latin typeface="Inter"/>
                <a:ea typeface="Inter"/>
                <a:cs typeface="Inter"/>
                <a:sym typeface="Inter"/>
              </a:rPr>
              <a:t>Early versions of the app were not user-friendly or visually appealing.</a:t>
            </a:r>
          </a:p>
          <a:p>
            <a:pPr algn="l">
              <a:lnSpc>
                <a:spcPts val="2660"/>
              </a:lnSpc>
            </a:pPr>
            <a:r>
              <a:rPr lang="en-US" sz="1900" u="sng">
                <a:solidFill>
                  <a:srgbClr val="0D0D0D"/>
                </a:solidFill>
                <a:latin typeface="Inter"/>
                <a:ea typeface="Inter"/>
                <a:cs typeface="Inter"/>
                <a:sym typeface="Inter"/>
              </a:rPr>
              <a:t>Solution: Improved design with Streamlit for interactivity and Canva Pro for enhanced graphics, making the app practical for all users.</a:t>
            </a:r>
          </a:p>
        </p:txBody>
      </p:sp>
      <p:sp>
        <p:nvSpPr>
          <p:cNvPr id="23" name="Freeform 23"/>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TextBox 24"/>
          <p:cNvSpPr txBox="1"/>
          <p:nvPr/>
        </p:nvSpPr>
        <p:spPr>
          <a:xfrm>
            <a:off x="2043076" y="1151962"/>
            <a:ext cx="3495749" cy="481271"/>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0D0D0D"/>
                </a:solidFill>
                <a:latin typeface="Neue Montreal Bold"/>
                <a:ea typeface="Neue Montreal Bold"/>
                <a:cs typeface="Neue Montreal Bold"/>
                <a:sym typeface="Neue Montreal Bold"/>
              </a:rPr>
              <a:t>Salary Prediction</a:t>
            </a:r>
          </a:p>
        </p:txBody>
      </p:sp>
      <p:grpSp>
        <p:nvGrpSpPr>
          <p:cNvPr id="25" name="Group 25"/>
          <p:cNvGrpSpPr/>
          <p:nvPr/>
        </p:nvGrpSpPr>
        <p:grpSpPr>
          <a:xfrm>
            <a:off x="15285647" y="1072430"/>
            <a:ext cx="1973653" cy="784945"/>
            <a:chOff x="0" y="0"/>
            <a:chExt cx="519810" cy="206735"/>
          </a:xfrm>
        </p:grpSpPr>
        <p:sp>
          <p:nvSpPr>
            <p:cNvPr id="26" name="Freeform 26"/>
            <p:cNvSpPr/>
            <p:nvPr/>
          </p:nvSpPr>
          <p:spPr>
            <a:xfrm>
              <a:off x="0" y="0"/>
              <a:ext cx="519810" cy="206735"/>
            </a:xfrm>
            <a:custGeom>
              <a:avLst/>
              <a:gdLst/>
              <a:ahLst/>
              <a:cxnLst/>
              <a:rect l="l" t="t" r="r" b="b"/>
              <a:pathLst>
                <a:path w="519810" h="206735">
                  <a:moveTo>
                    <a:pt x="103367" y="0"/>
                  </a:moveTo>
                  <a:lnTo>
                    <a:pt x="416443" y="0"/>
                  </a:lnTo>
                  <a:cubicBezTo>
                    <a:pt x="443857" y="0"/>
                    <a:pt x="470149" y="10890"/>
                    <a:pt x="489534" y="30276"/>
                  </a:cubicBezTo>
                  <a:cubicBezTo>
                    <a:pt x="508919" y="49661"/>
                    <a:pt x="519810" y="75953"/>
                    <a:pt x="519810" y="103367"/>
                  </a:cubicBezTo>
                  <a:lnTo>
                    <a:pt x="519810" y="103367"/>
                  </a:lnTo>
                  <a:cubicBezTo>
                    <a:pt x="519810" y="130782"/>
                    <a:pt x="508919" y="157074"/>
                    <a:pt x="489534" y="176459"/>
                  </a:cubicBezTo>
                  <a:cubicBezTo>
                    <a:pt x="470149" y="195844"/>
                    <a:pt x="443857" y="206735"/>
                    <a:pt x="41644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id="27" name="TextBox 27"/>
            <p:cNvSpPr txBox="1"/>
            <p:nvPr/>
          </p:nvSpPr>
          <p:spPr>
            <a:xfrm>
              <a:off x="0" y="-38100"/>
              <a:ext cx="519810" cy="244835"/>
            </a:xfrm>
            <a:prstGeom prst="rect">
              <a:avLst/>
            </a:prstGeom>
          </p:spPr>
          <p:txBody>
            <a:bodyPr lIns="50800" tIns="50800" rIns="50800" bIns="50800" rtlCol="0" anchor="ctr"/>
            <a:lstStyle/>
            <a:p>
              <a:pPr algn="ctr">
                <a:lnSpc>
                  <a:spcPts val="2520"/>
                </a:lnSpc>
              </a:pPr>
              <a:endParaRPr/>
            </a:p>
          </p:txBody>
        </p:sp>
      </p:grpSp>
      <p:sp>
        <p:nvSpPr>
          <p:cNvPr id="28" name="TextBox 28"/>
          <p:cNvSpPr txBox="1"/>
          <p:nvPr/>
        </p:nvSpPr>
        <p:spPr>
          <a:xfrm>
            <a:off x="15224448" y="1258210"/>
            <a:ext cx="1663377" cy="365760"/>
          </a:xfrm>
          <a:prstGeom prst="rect">
            <a:avLst/>
          </a:prstGeom>
        </p:spPr>
        <p:txBody>
          <a:bodyPr lIns="0" tIns="0" rIns="0" bIns="0" rtlCol="0" anchor="t">
            <a:spAutoFit/>
          </a:bodyPr>
          <a:lstStyle/>
          <a:p>
            <a:pPr marL="0" lvl="0" indent="0" algn="r">
              <a:lnSpc>
                <a:spcPts val="2940"/>
              </a:lnSpc>
              <a:spcBef>
                <a:spcPct val="0"/>
              </a:spcBef>
            </a:pPr>
            <a:r>
              <a:rPr lang="en-US" sz="2100">
                <a:solidFill>
                  <a:srgbClr val="FFFFFF"/>
                </a:solidFill>
                <a:latin typeface="Neue Montreal"/>
                <a:ea typeface="Neue Montreal"/>
                <a:cs typeface="Neue Montreal"/>
                <a:sym typeface="Neue Montreal"/>
              </a:rPr>
              <a:t>Page 5</a:t>
            </a:r>
          </a:p>
        </p:txBody>
      </p:sp>
      <p:grpSp>
        <p:nvGrpSpPr>
          <p:cNvPr id="29" name="Group 29"/>
          <p:cNvGrpSpPr/>
          <p:nvPr/>
        </p:nvGrpSpPr>
        <p:grpSpPr>
          <a:xfrm>
            <a:off x="15623026" y="1344472"/>
            <a:ext cx="240861" cy="240861"/>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32" name="Freeform 32"/>
          <p:cNvSpPr/>
          <p:nvPr/>
        </p:nvSpPr>
        <p:spPr>
          <a:xfrm>
            <a:off x="1028700" y="5831681"/>
            <a:ext cx="404812" cy="404812"/>
          </a:xfrm>
          <a:custGeom>
            <a:avLst/>
            <a:gdLst/>
            <a:ahLst/>
            <a:cxnLst/>
            <a:rect l="l" t="t" r="r" b="b"/>
            <a:pathLst>
              <a:path w="404812" h="404812">
                <a:moveTo>
                  <a:pt x="0" y="0"/>
                </a:moveTo>
                <a:lnTo>
                  <a:pt x="404812" y="0"/>
                </a:lnTo>
                <a:lnTo>
                  <a:pt x="404812" y="404813"/>
                </a:lnTo>
                <a:lnTo>
                  <a:pt x="0" y="4048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3" name="TextBox 33"/>
          <p:cNvSpPr txBox="1"/>
          <p:nvPr/>
        </p:nvSpPr>
        <p:spPr>
          <a:xfrm>
            <a:off x="9250459" y="2374127"/>
            <a:ext cx="2231413"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Data Quality Issues:</a:t>
            </a:r>
          </a:p>
        </p:txBody>
      </p:sp>
      <p:sp>
        <p:nvSpPr>
          <p:cNvPr id="34" name="Freeform 34"/>
          <p:cNvSpPr/>
          <p:nvPr/>
        </p:nvSpPr>
        <p:spPr>
          <a:xfrm rot="-1519681">
            <a:off x="-6487122" y="892897"/>
            <a:ext cx="18571789" cy="9525780"/>
          </a:xfrm>
          <a:custGeom>
            <a:avLst/>
            <a:gdLst/>
            <a:ahLst/>
            <a:cxnLst/>
            <a:rect l="l" t="t" r="r" b="b"/>
            <a:pathLst>
              <a:path w="18571789" h="9525780">
                <a:moveTo>
                  <a:pt x="0" y="0"/>
                </a:moveTo>
                <a:lnTo>
                  <a:pt x="18571789" y="0"/>
                </a:lnTo>
                <a:lnTo>
                  <a:pt x="18571789" y="9525780"/>
                </a:lnTo>
                <a:lnTo>
                  <a:pt x="0" y="9525780"/>
                </a:lnTo>
                <a:lnTo>
                  <a:pt x="0" y="0"/>
                </a:lnTo>
                <a:close/>
              </a:path>
            </a:pathLst>
          </a:custGeom>
          <a:blipFill>
            <a:blip r:embed="rId6">
              <a:alphaModFix amt="15000"/>
              <a:extLst>
                <a:ext uri="{96DAC541-7B7A-43D3-8B79-37D633B846F1}">
                  <asvg:svgBlip xmlns:asvg="http://schemas.microsoft.com/office/drawing/2016/SVG/main" r:embed="rId7"/>
                </a:ext>
              </a:extLst>
            </a:blip>
            <a:stretch>
              <a:fillRect/>
            </a:stretch>
          </a:blipFill>
        </p:spPr>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8DE68"/>
        </a:solidFill>
        <a:effectLst/>
      </p:bgPr>
    </p:bg>
    <p:spTree>
      <p:nvGrpSpPr>
        <p:cNvPr id="1" name=""/>
        <p:cNvGrpSpPr/>
        <p:nvPr/>
      </p:nvGrpSpPr>
      <p:grpSpPr>
        <a:xfrm>
          <a:off x="0" y="0"/>
          <a:ext cx="0" cy="0"/>
          <a:chOff x="0" y="0"/>
          <a:chExt cx="0" cy="0"/>
        </a:xfrm>
      </p:grpSpPr>
      <p:sp>
        <p:nvSpPr>
          <p:cNvPr id="2" name="Freeform 2"/>
          <p:cNvSpPr/>
          <p:nvPr/>
        </p:nvSpPr>
        <p:spPr>
          <a:xfrm rot="2942610">
            <a:off x="1805825" y="-3839416"/>
            <a:ext cx="20062718" cy="10290503"/>
          </a:xfrm>
          <a:custGeom>
            <a:avLst/>
            <a:gdLst/>
            <a:ahLst/>
            <a:cxnLst/>
            <a:rect l="l" t="t" r="r" b="b"/>
            <a:pathLst>
              <a:path w="20062718" h="10290503">
                <a:moveTo>
                  <a:pt x="0" y="0"/>
                </a:moveTo>
                <a:lnTo>
                  <a:pt x="20062718" y="0"/>
                </a:lnTo>
                <a:lnTo>
                  <a:pt x="20062718" y="10290502"/>
                </a:lnTo>
                <a:lnTo>
                  <a:pt x="0" y="10290502"/>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971550" y="2434257"/>
            <a:ext cx="7357349" cy="2702560"/>
          </a:xfrm>
          <a:prstGeom prst="rect">
            <a:avLst/>
          </a:prstGeom>
        </p:spPr>
        <p:txBody>
          <a:bodyPr lIns="0" tIns="0" rIns="0" bIns="0" rtlCol="0" anchor="t">
            <a:spAutoFit/>
          </a:bodyPr>
          <a:lstStyle/>
          <a:p>
            <a:pPr algn="l">
              <a:lnSpc>
                <a:spcPts val="10400"/>
              </a:lnSpc>
            </a:pPr>
            <a:r>
              <a:rPr lang="en-US" sz="10400">
                <a:solidFill>
                  <a:srgbClr val="0D0D0D"/>
                </a:solidFill>
                <a:latin typeface="Neue Montreal"/>
                <a:ea typeface="Neue Montreal"/>
                <a:cs typeface="Neue Montreal"/>
                <a:sym typeface="Neue Montreal"/>
              </a:rPr>
              <a:t>Future Scope</a:t>
            </a:r>
          </a:p>
        </p:txBody>
      </p:sp>
      <p:grpSp>
        <p:nvGrpSpPr>
          <p:cNvPr id="4" name="Group 4"/>
          <p:cNvGrpSpPr/>
          <p:nvPr/>
        </p:nvGrpSpPr>
        <p:grpSpPr>
          <a:xfrm>
            <a:off x="8225511" y="1464902"/>
            <a:ext cx="3089401" cy="567374"/>
            <a:chOff x="0" y="0"/>
            <a:chExt cx="813669" cy="149432"/>
          </a:xfrm>
        </p:grpSpPr>
        <p:sp>
          <p:nvSpPr>
            <p:cNvPr id="5" name="Freeform 5"/>
            <p:cNvSpPr/>
            <p:nvPr/>
          </p:nvSpPr>
          <p:spPr>
            <a:xfrm>
              <a:off x="0" y="0"/>
              <a:ext cx="813669" cy="149432"/>
            </a:xfrm>
            <a:custGeom>
              <a:avLst/>
              <a:gdLst/>
              <a:ahLst/>
              <a:cxnLst/>
              <a:rect l="l" t="t" r="r" b="b"/>
              <a:pathLst>
                <a:path w="813669" h="149432">
                  <a:moveTo>
                    <a:pt x="74716" y="0"/>
                  </a:moveTo>
                  <a:lnTo>
                    <a:pt x="738954" y="0"/>
                  </a:lnTo>
                  <a:cubicBezTo>
                    <a:pt x="758769" y="0"/>
                    <a:pt x="777774" y="7872"/>
                    <a:pt x="791786" y="21884"/>
                  </a:cubicBezTo>
                  <a:cubicBezTo>
                    <a:pt x="805798" y="35896"/>
                    <a:pt x="813669" y="54900"/>
                    <a:pt x="813669" y="74716"/>
                  </a:cubicBezTo>
                  <a:lnTo>
                    <a:pt x="813669" y="74716"/>
                  </a:lnTo>
                  <a:cubicBezTo>
                    <a:pt x="813669" y="94532"/>
                    <a:pt x="805798" y="113536"/>
                    <a:pt x="791786" y="127548"/>
                  </a:cubicBezTo>
                  <a:cubicBezTo>
                    <a:pt x="777774" y="141560"/>
                    <a:pt x="758769" y="149432"/>
                    <a:pt x="738954"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id="6" name="TextBox 6"/>
            <p:cNvSpPr txBox="1"/>
            <p:nvPr/>
          </p:nvSpPr>
          <p:spPr>
            <a:xfrm>
              <a:off x="0" y="-38100"/>
              <a:ext cx="813669" cy="187532"/>
            </a:xfrm>
            <a:prstGeom prst="rect">
              <a:avLst/>
            </a:prstGeom>
          </p:spPr>
          <p:txBody>
            <a:bodyPr lIns="50800" tIns="50800" rIns="50800" bIns="50800" rtlCol="0" anchor="ctr"/>
            <a:lstStyle/>
            <a:p>
              <a:pPr algn="l">
                <a:lnSpc>
                  <a:spcPts val="2520"/>
                </a:lnSpc>
              </a:pPr>
              <a:endParaRPr/>
            </a:p>
          </p:txBody>
        </p:sp>
      </p:grpSp>
      <p:grpSp>
        <p:nvGrpSpPr>
          <p:cNvPr id="7" name="Group 7"/>
          <p:cNvGrpSpPr/>
          <p:nvPr/>
        </p:nvGrpSpPr>
        <p:grpSpPr>
          <a:xfrm>
            <a:off x="8374799" y="6178073"/>
            <a:ext cx="2790825" cy="567374"/>
            <a:chOff x="0" y="0"/>
            <a:chExt cx="735032" cy="149432"/>
          </a:xfrm>
        </p:grpSpPr>
        <p:sp>
          <p:nvSpPr>
            <p:cNvPr id="8" name="Freeform 8"/>
            <p:cNvSpPr/>
            <p:nvPr/>
          </p:nvSpPr>
          <p:spPr>
            <a:xfrm>
              <a:off x="0" y="0"/>
              <a:ext cx="735032" cy="149432"/>
            </a:xfrm>
            <a:custGeom>
              <a:avLst/>
              <a:gdLst/>
              <a:ahLst/>
              <a:cxnLst/>
              <a:rect l="l" t="t" r="r" b="b"/>
              <a:pathLst>
                <a:path w="735032" h="149432">
                  <a:moveTo>
                    <a:pt x="74716" y="0"/>
                  </a:moveTo>
                  <a:lnTo>
                    <a:pt x="660316" y="0"/>
                  </a:lnTo>
                  <a:cubicBezTo>
                    <a:pt x="680132" y="0"/>
                    <a:pt x="699136" y="7872"/>
                    <a:pt x="713148" y="21884"/>
                  </a:cubicBezTo>
                  <a:cubicBezTo>
                    <a:pt x="727160" y="35896"/>
                    <a:pt x="735032" y="54900"/>
                    <a:pt x="735032" y="74716"/>
                  </a:cubicBezTo>
                  <a:lnTo>
                    <a:pt x="735032" y="74716"/>
                  </a:lnTo>
                  <a:cubicBezTo>
                    <a:pt x="735032" y="94532"/>
                    <a:pt x="727160" y="113536"/>
                    <a:pt x="713148" y="127548"/>
                  </a:cubicBezTo>
                  <a:cubicBezTo>
                    <a:pt x="699136" y="141560"/>
                    <a:pt x="680132" y="149432"/>
                    <a:pt x="660316"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id="9" name="TextBox 9"/>
            <p:cNvSpPr txBox="1"/>
            <p:nvPr/>
          </p:nvSpPr>
          <p:spPr>
            <a:xfrm>
              <a:off x="0" y="-38100"/>
              <a:ext cx="735032" cy="187532"/>
            </a:xfrm>
            <a:prstGeom prst="rect">
              <a:avLst/>
            </a:prstGeom>
          </p:spPr>
          <p:txBody>
            <a:bodyPr lIns="50800" tIns="50800" rIns="50800" bIns="50800" rtlCol="0" anchor="ctr"/>
            <a:lstStyle/>
            <a:p>
              <a:pPr algn="l">
                <a:lnSpc>
                  <a:spcPts val="2520"/>
                </a:lnSpc>
              </a:pPr>
              <a:endParaRPr/>
            </a:p>
          </p:txBody>
        </p:sp>
      </p:grpSp>
      <p:grpSp>
        <p:nvGrpSpPr>
          <p:cNvPr id="10" name="Group 10"/>
          <p:cNvGrpSpPr/>
          <p:nvPr/>
        </p:nvGrpSpPr>
        <p:grpSpPr>
          <a:xfrm>
            <a:off x="8328899" y="3690288"/>
            <a:ext cx="2929797" cy="567374"/>
            <a:chOff x="0" y="0"/>
            <a:chExt cx="771634" cy="149432"/>
          </a:xfrm>
        </p:grpSpPr>
        <p:sp>
          <p:nvSpPr>
            <p:cNvPr id="11" name="Freeform 11"/>
            <p:cNvSpPr/>
            <p:nvPr/>
          </p:nvSpPr>
          <p:spPr>
            <a:xfrm>
              <a:off x="0" y="0"/>
              <a:ext cx="771634" cy="149432"/>
            </a:xfrm>
            <a:custGeom>
              <a:avLst/>
              <a:gdLst/>
              <a:ahLst/>
              <a:cxnLst/>
              <a:rect l="l" t="t" r="r" b="b"/>
              <a:pathLst>
                <a:path w="771634" h="149432">
                  <a:moveTo>
                    <a:pt x="74716" y="0"/>
                  </a:moveTo>
                  <a:lnTo>
                    <a:pt x="696918" y="0"/>
                  </a:lnTo>
                  <a:cubicBezTo>
                    <a:pt x="716734" y="0"/>
                    <a:pt x="735738" y="7872"/>
                    <a:pt x="749750" y="21884"/>
                  </a:cubicBezTo>
                  <a:cubicBezTo>
                    <a:pt x="763762" y="35896"/>
                    <a:pt x="771634" y="54900"/>
                    <a:pt x="771634" y="74716"/>
                  </a:cubicBezTo>
                  <a:lnTo>
                    <a:pt x="771634" y="74716"/>
                  </a:lnTo>
                  <a:cubicBezTo>
                    <a:pt x="771634" y="94532"/>
                    <a:pt x="763762" y="113536"/>
                    <a:pt x="749750" y="127548"/>
                  </a:cubicBezTo>
                  <a:cubicBezTo>
                    <a:pt x="735738" y="141560"/>
                    <a:pt x="716734" y="149432"/>
                    <a:pt x="696918"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id="12" name="TextBox 12"/>
            <p:cNvSpPr txBox="1"/>
            <p:nvPr/>
          </p:nvSpPr>
          <p:spPr>
            <a:xfrm>
              <a:off x="0" y="-38100"/>
              <a:ext cx="771634" cy="187532"/>
            </a:xfrm>
            <a:prstGeom prst="rect">
              <a:avLst/>
            </a:prstGeom>
          </p:spPr>
          <p:txBody>
            <a:bodyPr lIns="50800" tIns="50800" rIns="50800" bIns="50800" rtlCol="0" anchor="ctr"/>
            <a:lstStyle/>
            <a:p>
              <a:pPr algn="l">
                <a:lnSpc>
                  <a:spcPts val="2520"/>
                </a:lnSpc>
              </a:pPr>
              <a:endParaRPr/>
            </a:p>
          </p:txBody>
        </p:sp>
      </p:grpSp>
      <p:grpSp>
        <p:nvGrpSpPr>
          <p:cNvPr id="13" name="Group 13"/>
          <p:cNvGrpSpPr/>
          <p:nvPr/>
        </p:nvGrpSpPr>
        <p:grpSpPr>
          <a:xfrm>
            <a:off x="12192000" y="1410095"/>
            <a:ext cx="1977899" cy="706367"/>
            <a:chOff x="0" y="0"/>
            <a:chExt cx="520928" cy="186039"/>
          </a:xfrm>
        </p:grpSpPr>
        <p:sp>
          <p:nvSpPr>
            <p:cNvPr id="14" name="Freeform 14"/>
            <p:cNvSpPr/>
            <p:nvPr/>
          </p:nvSpPr>
          <p:spPr>
            <a:xfrm>
              <a:off x="0" y="0"/>
              <a:ext cx="520928" cy="186039"/>
            </a:xfrm>
            <a:custGeom>
              <a:avLst/>
              <a:gdLst/>
              <a:ahLst/>
              <a:cxnLst/>
              <a:rect l="l" t="t" r="r" b="b"/>
              <a:pathLst>
                <a:path w="520928" h="186039">
                  <a:moveTo>
                    <a:pt x="93020" y="0"/>
                  </a:moveTo>
                  <a:lnTo>
                    <a:pt x="427909" y="0"/>
                  </a:lnTo>
                  <a:cubicBezTo>
                    <a:pt x="452579" y="0"/>
                    <a:pt x="476239" y="9800"/>
                    <a:pt x="493683" y="27245"/>
                  </a:cubicBezTo>
                  <a:cubicBezTo>
                    <a:pt x="511128" y="44689"/>
                    <a:pt x="520928" y="68349"/>
                    <a:pt x="520928" y="93020"/>
                  </a:cubicBezTo>
                  <a:lnTo>
                    <a:pt x="520928" y="93020"/>
                  </a:lnTo>
                  <a:cubicBezTo>
                    <a:pt x="520928" y="117690"/>
                    <a:pt x="511128" y="141350"/>
                    <a:pt x="493683" y="158794"/>
                  </a:cubicBezTo>
                  <a:cubicBezTo>
                    <a:pt x="476239" y="176239"/>
                    <a:pt x="452579" y="186039"/>
                    <a:pt x="427909" y="186039"/>
                  </a:cubicBezTo>
                  <a:lnTo>
                    <a:pt x="93020" y="186039"/>
                  </a:lnTo>
                  <a:cubicBezTo>
                    <a:pt x="68349" y="186039"/>
                    <a:pt x="44689" y="176239"/>
                    <a:pt x="27245" y="158794"/>
                  </a:cubicBezTo>
                  <a:cubicBezTo>
                    <a:pt x="9800" y="141350"/>
                    <a:pt x="0" y="117690"/>
                    <a:pt x="0" y="93020"/>
                  </a:cubicBezTo>
                  <a:lnTo>
                    <a:pt x="0" y="93020"/>
                  </a:lnTo>
                  <a:cubicBezTo>
                    <a:pt x="0" y="68349"/>
                    <a:pt x="9800" y="44689"/>
                    <a:pt x="27245" y="27245"/>
                  </a:cubicBezTo>
                  <a:cubicBezTo>
                    <a:pt x="44689" y="9800"/>
                    <a:pt x="68349" y="0"/>
                    <a:pt x="93020" y="0"/>
                  </a:cubicBezTo>
                  <a:close/>
                </a:path>
              </a:pathLst>
            </a:custGeom>
            <a:solidFill>
              <a:srgbClr val="FFFFFF"/>
            </a:solidFill>
          </p:spPr>
        </p:sp>
        <p:sp>
          <p:nvSpPr>
            <p:cNvPr id="15" name="TextBox 15"/>
            <p:cNvSpPr txBox="1"/>
            <p:nvPr/>
          </p:nvSpPr>
          <p:spPr>
            <a:xfrm>
              <a:off x="0" y="-38100"/>
              <a:ext cx="520928" cy="224139"/>
            </a:xfrm>
            <a:prstGeom prst="rect">
              <a:avLst/>
            </a:prstGeom>
          </p:spPr>
          <p:txBody>
            <a:bodyPr lIns="50800" tIns="50800" rIns="50800" bIns="50800" rtlCol="0" anchor="ctr"/>
            <a:lstStyle/>
            <a:p>
              <a:pPr algn="l">
                <a:lnSpc>
                  <a:spcPts val="2520"/>
                </a:lnSpc>
              </a:pPr>
              <a:endParaRPr/>
            </a:p>
          </p:txBody>
        </p:sp>
      </p:grpSp>
      <p:sp>
        <p:nvSpPr>
          <p:cNvPr id="16" name="TextBox 16"/>
          <p:cNvSpPr txBox="1"/>
          <p:nvPr/>
        </p:nvSpPr>
        <p:spPr>
          <a:xfrm>
            <a:off x="8385116" y="1537708"/>
            <a:ext cx="2929797"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Expanded Feature Set</a:t>
            </a:r>
          </a:p>
        </p:txBody>
      </p:sp>
      <p:sp>
        <p:nvSpPr>
          <p:cNvPr id="17" name="TextBox 17"/>
          <p:cNvSpPr txBox="1"/>
          <p:nvPr/>
        </p:nvSpPr>
        <p:spPr>
          <a:xfrm>
            <a:off x="8519053" y="6255067"/>
            <a:ext cx="2549489"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Real-time Integration</a:t>
            </a:r>
          </a:p>
        </p:txBody>
      </p:sp>
      <p:sp>
        <p:nvSpPr>
          <p:cNvPr id="18" name="TextBox 18"/>
          <p:cNvSpPr txBox="1"/>
          <p:nvPr/>
        </p:nvSpPr>
        <p:spPr>
          <a:xfrm>
            <a:off x="8485003" y="3750612"/>
            <a:ext cx="2829909"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Advanced Algorithms</a:t>
            </a:r>
          </a:p>
        </p:txBody>
      </p:sp>
      <p:sp>
        <p:nvSpPr>
          <p:cNvPr id="19" name="TextBox 19"/>
          <p:cNvSpPr txBox="1"/>
          <p:nvPr/>
        </p:nvSpPr>
        <p:spPr>
          <a:xfrm>
            <a:off x="12368926" y="1417277"/>
            <a:ext cx="1801509"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Personalized </a:t>
            </a:r>
          </a:p>
        </p:txBody>
      </p:sp>
      <p:sp>
        <p:nvSpPr>
          <p:cNvPr id="20" name="TextBox 20"/>
          <p:cNvSpPr txBox="1"/>
          <p:nvPr/>
        </p:nvSpPr>
        <p:spPr>
          <a:xfrm>
            <a:off x="8308315" y="2205657"/>
            <a:ext cx="3528869"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Include more attributes like education, job role, company sector, and location for personalized predictions.</a:t>
            </a:r>
          </a:p>
        </p:txBody>
      </p:sp>
      <p:sp>
        <p:nvSpPr>
          <p:cNvPr id="21" name="TextBox 21"/>
          <p:cNvSpPr txBox="1"/>
          <p:nvPr/>
        </p:nvSpPr>
        <p:spPr>
          <a:xfrm>
            <a:off x="8458346" y="4429111"/>
            <a:ext cx="2800350" cy="1564005"/>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Employ ensemble learning and deep neural networks for improved prediction accuracy and scalability</a:t>
            </a:r>
          </a:p>
        </p:txBody>
      </p:sp>
      <p:sp>
        <p:nvSpPr>
          <p:cNvPr id="22" name="TextBox 22"/>
          <p:cNvSpPr txBox="1"/>
          <p:nvPr/>
        </p:nvSpPr>
        <p:spPr>
          <a:xfrm>
            <a:off x="801583" y="5882799"/>
            <a:ext cx="6462712" cy="3106896"/>
          </a:xfrm>
          <a:prstGeom prst="rect">
            <a:avLst/>
          </a:prstGeom>
        </p:spPr>
        <p:txBody>
          <a:bodyPr lIns="0" tIns="0" rIns="0" bIns="0" rtlCol="0" anchor="t">
            <a:spAutoFit/>
          </a:bodyPr>
          <a:lstStyle/>
          <a:p>
            <a:pPr algn="l">
              <a:lnSpc>
                <a:spcPts val="3079"/>
              </a:lnSpc>
            </a:pPr>
            <a:r>
              <a:rPr lang="en-US" sz="2199">
                <a:solidFill>
                  <a:srgbClr val="0D0D0D"/>
                </a:solidFill>
                <a:latin typeface="Inter"/>
                <a:ea typeface="Inter"/>
                <a:cs typeface="Inter"/>
                <a:sym typeface="Inter"/>
              </a:rPr>
              <a:t>As the field of salary prediction evolves, there is significant potential to make apps more powerful, accurate, and widely applicable. By integrating richer data sources, leveraging advanced machine learning, and focusing on user experience, the future development of these applications can create deeper impact for HR, employees, and job seekers.</a:t>
            </a:r>
          </a:p>
        </p:txBody>
      </p:sp>
      <p:sp>
        <p:nvSpPr>
          <p:cNvPr id="23" name="Freeform 23"/>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4" name="Group 24"/>
          <p:cNvGrpSpPr/>
          <p:nvPr/>
        </p:nvGrpSpPr>
        <p:grpSpPr>
          <a:xfrm>
            <a:off x="15285647" y="1072430"/>
            <a:ext cx="1973653" cy="784945"/>
            <a:chOff x="0" y="0"/>
            <a:chExt cx="519810" cy="206735"/>
          </a:xfrm>
        </p:grpSpPr>
        <p:sp>
          <p:nvSpPr>
            <p:cNvPr id="25" name="Freeform 25"/>
            <p:cNvSpPr/>
            <p:nvPr/>
          </p:nvSpPr>
          <p:spPr>
            <a:xfrm>
              <a:off x="0" y="0"/>
              <a:ext cx="519810" cy="206735"/>
            </a:xfrm>
            <a:custGeom>
              <a:avLst/>
              <a:gdLst/>
              <a:ahLst/>
              <a:cxnLst/>
              <a:rect l="l" t="t" r="r" b="b"/>
              <a:pathLst>
                <a:path w="519810" h="206735">
                  <a:moveTo>
                    <a:pt x="103367" y="0"/>
                  </a:moveTo>
                  <a:lnTo>
                    <a:pt x="416443" y="0"/>
                  </a:lnTo>
                  <a:cubicBezTo>
                    <a:pt x="443857" y="0"/>
                    <a:pt x="470149" y="10890"/>
                    <a:pt x="489534" y="30276"/>
                  </a:cubicBezTo>
                  <a:cubicBezTo>
                    <a:pt x="508919" y="49661"/>
                    <a:pt x="519810" y="75953"/>
                    <a:pt x="519810" y="103367"/>
                  </a:cubicBezTo>
                  <a:lnTo>
                    <a:pt x="519810" y="103367"/>
                  </a:lnTo>
                  <a:cubicBezTo>
                    <a:pt x="519810" y="130782"/>
                    <a:pt x="508919" y="157074"/>
                    <a:pt x="489534" y="176459"/>
                  </a:cubicBezTo>
                  <a:cubicBezTo>
                    <a:pt x="470149" y="195844"/>
                    <a:pt x="443857" y="206735"/>
                    <a:pt x="41644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FFFFFF"/>
            </a:solidFill>
          </p:spPr>
        </p:sp>
        <p:sp>
          <p:nvSpPr>
            <p:cNvPr id="26" name="TextBox 26"/>
            <p:cNvSpPr txBox="1"/>
            <p:nvPr/>
          </p:nvSpPr>
          <p:spPr>
            <a:xfrm>
              <a:off x="0" y="-38100"/>
              <a:ext cx="519810" cy="244835"/>
            </a:xfrm>
            <a:prstGeom prst="rect">
              <a:avLst/>
            </a:prstGeom>
          </p:spPr>
          <p:txBody>
            <a:bodyPr lIns="50800" tIns="50800" rIns="50800" bIns="50800" rtlCol="0" anchor="ctr"/>
            <a:lstStyle/>
            <a:p>
              <a:pPr algn="ctr">
                <a:lnSpc>
                  <a:spcPts val="2520"/>
                </a:lnSpc>
              </a:pPr>
              <a:endParaRPr/>
            </a:p>
          </p:txBody>
        </p:sp>
      </p:grpSp>
      <p:sp>
        <p:nvSpPr>
          <p:cNvPr id="27" name="TextBox 27"/>
          <p:cNvSpPr txBox="1"/>
          <p:nvPr/>
        </p:nvSpPr>
        <p:spPr>
          <a:xfrm>
            <a:off x="15224448" y="1258210"/>
            <a:ext cx="1663377" cy="365760"/>
          </a:xfrm>
          <a:prstGeom prst="rect">
            <a:avLst/>
          </a:prstGeom>
        </p:spPr>
        <p:txBody>
          <a:bodyPr lIns="0" tIns="0" rIns="0" bIns="0" rtlCol="0" anchor="t">
            <a:spAutoFit/>
          </a:bodyPr>
          <a:lstStyle/>
          <a:p>
            <a:pPr marL="0" lvl="0" indent="0" algn="r">
              <a:lnSpc>
                <a:spcPts val="2940"/>
              </a:lnSpc>
              <a:spcBef>
                <a:spcPct val="0"/>
              </a:spcBef>
            </a:pPr>
            <a:r>
              <a:rPr lang="en-US" sz="2100">
                <a:solidFill>
                  <a:srgbClr val="0D0D0D"/>
                </a:solidFill>
                <a:latin typeface="Neue Montreal"/>
                <a:ea typeface="Neue Montreal"/>
                <a:cs typeface="Neue Montreal"/>
                <a:sym typeface="Neue Montreal"/>
              </a:rPr>
              <a:t>Page  6</a:t>
            </a:r>
          </a:p>
        </p:txBody>
      </p:sp>
      <p:grpSp>
        <p:nvGrpSpPr>
          <p:cNvPr id="28" name="Group 28"/>
          <p:cNvGrpSpPr/>
          <p:nvPr/>
        </p:nvGrpSpPr>
        <p:grpSpPr>
          <a:xfrm>
            <a:off x="15623026" y="1344472"/>
            <a:ext cx="240861" cy="24086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31" name="TextBox 31"/>
          <p:cNvSpPr txBox="1"/>
          <p:nvPr/>
        </p:nvSpPr>
        <p:spPr>
          <a:xfrm>
            <a:off x="2071651" y="1139951"/>
            <a:ext cx="3495749" cy="976511"/>
          </a:xfrm>
          <a:prstGeom prst="rect">
            <a:avLst/>
          </a:prstGeom>
        </p:spPr>
        <p:txBody>
          <a:bodyPr lIns="0" tIns="0" rIns="0" bIns="0" rtlCol="0" anchor="t">
            <a:spAutoFit/>
          </a:bodyPr>
          <a:lstStyle/>
          <a:p>
            <a:pPr algn="l">
              <a:lnSpc>
                <a:spcPts val="3919"/>
              </a:lnSpc>
            </a:pPr>
            <a:r>
              <a:rPr lang="en-US" sz="2799" b="1">
                <a:solidFill>
                  <a:srgbClr val="0D0D0D"/>
                </a:solidFill>
                <a:latin typeface="Neue Montreal Bold"/>
                <a:ea typeface="Neue Montreal Bold"/>
                <a:cs typeface="Neue Montreal Bold"/>
                <a:sym typeface="Neue Montreal Bold"/>
              </a:rPr>
              <a:t>Salary Prediction </a:t>
            </a:r>
          </a:p>
          <a:p>
            <a:pPr marL="0" lvl="0" indent="0" algn="l">
              <a:lnSpc>
                <a:spcPts val="3919"/>
              </a:lnSpc>
              <a:spcBef>
                <a:spcPct val="0"/>
              </a:spcBef>
            </a:pPr>
            <a:endParaRPr lang="en-US" sz="2799" b="1">
              <a:solidFill>
                <a:srgbClr val="0D0D0D"/>
              </a:solidFill>
              <a:latin typeface="Neue Montreal Bold"/>
              <a:ea typeface="Neue Montreal Bold"/>
              <a:cs typeface="Neue Montreal Bold"/>
              <a:sym typeface="Neue Montreal Bold"/>
            </a:endParaRPr>
          </a:p>
        </p:txBody>
      </p:sp>
      <p:sp>
        <p:nvSpPr>
          <p:cNvPr id="32" name="TextBox 32"/>
          <p:cNvSpPr txBox="1"/>
          <p:nvPr/>
        </p:nvSpPr>
        <p:spPr>
          <a:xfrm>
            <a:off x="8458346" y="7021671"/>
            <a:ext cx="2800350"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Connect with live HR databases or external APIs for up-to-date salary forecasts</a:t>
            </a:r>
          </a:p>
        </p:txBody>
      </p:sp>
      <p:sp>
        <p:nvSpPr>
          <p:cNvPr id="33" name="TextBox 33"/>
          <p:cNvSpPr txBox="1"/>
          <p:nvPr/>
        </p:nvSpPr>
        <p:spPr>
          <a:xfrm>
            <a:off x="12861827" y="1666516"/>
            <a:ext cx="1801509" cy="365760"/>
          </a:xfrm>
          <a:prstGeom prst="rect">
            <a:avLst/>
          </a:prstGeom>
        </p:spPr>
        <p:txBody>
          <a:bodyPr lIns="0" tIns="0" rIns="0" bIns="0" rtlCol="0" anchor="t">
            <a:spAutoFit/>
          </a:bodyPr>
          <a:lstStyle/>
          <a:p>
            <a:pPr marL="0" lvl="0" indent="0" algn="l">
              <a:lnSpc>
                <a:spcPts val="2940"/>
              </a:lnSpc>
              <a:spcBef>
                <a:spcPct val="0"/>
              </a:spcBef>
            </a:pPr>
            <a:r>
              <a:rPr lang="en-US" sz="2100">
                <a:solidFill>
                  <a:srgbClr val="0D0D0D"/>
                </a:solidFill>
                <a:latin typeface="Neue Montreal"/>
                <a:ea typeface="Neue Montreal"/>
                <a:cs typeface="Neue Montreal"/>
                <a:sym typeface="Neue Montreal"/>
              </a:rPr>
              <a:t> Analytics</a:t>
            </a:r>
          </a:p>
        </p:txBody>
      </p:sp>
      <p:sp>
        <p:nvSpPr>
          <p:cNvPr id="34" name="TextBox 34"/>
          <p:cNvSpPr txBox="1"/>
          <p:nvPr/>
        </p:nvSpPr>
        <p:spPr>
          <a:xfrm>
            <a:off x="12192000" y="2234232"/>
            <a:ext cx="2800350"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Offer AI-driven career advice and long-term salary projections for user-centric experience.</a:t>
            </a:r>
          </a:p>
        </p:txBody>
      </p:sp>
      <p:grpSp>
        <p:nvGrpSpPr>
          <p:cNvPr id="35" name="Group 35"/>
          <p:cNvGrpSpPr/>
          <p:nvPr/>
        </p:nvGrpSpPr>
        <p:grpSpPr>
          <a:xfrm>
            <a:off x="12091434" y="3636312"/>
            <a:ext cx="3652023" cy="745174"/>
            <a:chOff x="0" y="0"/>
            <a:chExt cx="961850" cy="196260"/>
          </a:xfrm>
        </p:grpSpPr>
        <p:sp>
          <p:nvSpPr>
            <p:cNvPr id="36" name="Freeform 36"/>
            <p:cNvSpPr/>
            <p:nvPr/>
          </p:nvSpPr>
          <p:spPr>
            <a:xfrm>
              <a:off x="0" y="0"/>
              <a:ext cx="961850" cy="196260"/>
            </a:xfrm>
            <a:custGeom>
              <a:avLst/>
              <a:gdLst/>
              <a:ahLst/>
              <a:cxnLst/>
              <a:rect l="l" t="t" r="r" b="b"/>
              <a:pathLst>
                <a:path w="961850" h="196260">
                  <a:moveTo>
                    <a:pt x="98130" y="0"/>
                  </a:moveTo>
                  <a:lnTo>
                    <a:pt x="863720" y="0"/>
                  </a:lnTo>
                  <a:cubicBezTo>
                    <a:pt x="889745" y="0"/>
                    <a:pt x="914705" y="10339"/>
                    <a:pt x="933108" y="28742"/>
                  </a:cubicBezTo>
                  <a:cubicBezTo>
                    <a:pt x="951511" y="47145"/>
                    <a:pt x="961850" y="72104"/>
                    <a:pt x="961850" y="98130"/>
                  </a:cubicBezTo>
                  <a:lnTo>
                    <a:pt x="961850" y="98130"/>
                  </a:lnTo>
                  <a:cubicBezTo>
                    <a:pt x="961850" y="124156"/>
                    <a:pt x="951511" y="149115"/>
                    <a:pt x="933108" y="167518"/>
                  </a:cubicBezTo>
                  <a:cubicBezTo>
                    <a:pt x="914705" y="185921"/>
                    <a:pt x="889745" y="196260"/>
                    <a:pt x="863720" y="196260"/>
                  </a:cubicBezTo>
                  <a:lnTo>
                    <a:pt x="98130" y="196260"/>
                  </a:lnTo>
                  <a:cubicBezTo>
                    <a:pt x="72104" y="196260"/>
                    <a:pt x="47145" y="185921"/>
                    <a:pt x="28742" y="167518"/>
                  </a:cubicBezTo>
                  <a:cubicBezTo>
                    <a:pt x="10339" y="149115"/>
                    <a:pt x="0" y="124156"/>
                    <a:pt x="0" y="98130"/>
                  </a:cubicBezTo>
                  <a:lnTo>
                    <a:pt x="0" y="98130"/>
                  </a:lnTo>
                  <a:cubicBezTo>
                    <a:pt x="0" y="72104"/>
                    <a:pt x="10339" y="47145"/>
                    <a:pt x="28742" y="28742"/>
                  </a:cubicBezTo>
                  <a:cubicBezTo>
                    <a:pt x="47145" y="10339"/>
                    <a:pt x="72104" y="0"/>
                    <a:pt x="98130" y="0"/>
                  </a:cubicBezTo>
                  <a:close/>
                </a:path>
              </a:pathLst>
            </a:custGeom>
            <a:solidFill>
              <a:srgbClr val="FFFFFF"/>
            </a:solidFill>
          </p:spPr>
        </p:sp>
        <p:sp>
          <p:nvSpPr>
            <p:cNvPr id="37" name="TextBox 37"/>
            <p:cNvSpPr txBox="1"/>
            <p:nvPr/>
          </p:nvSpPr>
          <p:spPr>
            <a:xfrm>
              <a:off x="0" y="-38100"/>
              <a:ext cx="961850" cy="234360"/>
            </a:xfrm>
            <a:prstGeom prst="rect">
              <a:avLst/>
            </a:prstGeom>
          </p:spPr>
          <p:txBody>
            <a:bodyPr lIns="50800" tIns="50800" rIns="50800" bIns="50800" rtlCol="0" anchor="ctr"/>
            <a:lstStyle/>
            <a:p>
              <a:pPr algn="l">
                <a:lnSpc>
                  <a:spcPts val="2520"/>
                </a:lnSpc>
              </a:pPr>
              <a:endParaRPr/>
            </a:p>
          </p:txBody>
        </p:sp>
      </p:grpSp>
      <p:sp>
        <p:nvSpPr>
          <p:cNvPr id="38" name="TextBox 38"/>
          <p:cNvSpPr txBox="1"/>
          <p:nvPr/>
        </p:nvSpPr>
        <p:spPr>
          <a:xfrm>
            <a:off x="12280731" y="3802207"/>
            <a:ext cx="3342296" cy="365760"/>
          </a:xfrm>
          <a:prstGeom prst="rect">
            <a:avLst/>
          </a:prstGeom>
        </p:spPr>
        <p:txBody>
          <a:bodyPr lIns="0" tIns="0" rIns="0" bIns="0" rtlCol="0" anchor="t">
            <a:spAutoFit/>
          </a:bodyPr>
          <a:lstStyle/>
          <a:p>
            <a:pPr algn="ctr">
              <a:lnSpc>
                <a:spcPts val="2940"/>
              </a:lnSpc>
              <a:spcBef>
                <a:spcPct val="0"/>
              </a:spcBef>
            </a:pPr>
            <a:r>
              <a:rPr lang="en-US" sz="2100">
                <a:solidFill>
                  <a:srgbClr val="0D0D0D"/>
                </a:solidFill>
                <a:latin typeface="Neue Montreal"/>
                <a:ea typeface="Neue Montreal"/>
                <a:cs typeface="Neue Montreal"/>
                <a:sym typeface="Neue Montreal"/>
              </a:rPr>
              <a:t>Localization and Global Reach</a:t>
            </a:r>
          </a:p>
        </p:txBody>
      </p:sp>
      <p:sp>
        <p:nvSpPr>
          <p:cNvPr id="39" name="Freeform 39"/>
          <p:cNvSpPr/>
          <p:nvPr/>
        </p:nvSpPr>
        <p:spPr>
          <a:xfrm rot="2942610">
            <a:off x="-3935359" y="4255381"/>
            <a:ext cx="20062718" cy="10290503"/>
          </a:xfrm>
          <a:custGeom>
            <a:avLst/>
            <a:gdLst/>
            <a:ahLst/>
            <a:cxnLst/>
            <a:rect l="l" t="t" r="r" b="b"/>
            <a:pathLst>
              <a:path w="20062718" h="10290503">
                <a:moveTo>
                  <a:pt x="0" y="0"/>
                </a:moveTo>
                <a:lnTo>
                  <a:pt x="20062718" y="0"/>
                </a:lnTo>
                <a:lnTo>
                  <a:pt x="20062718" y="10290503"/>
                </a:lnTo>
                <a:lnTo>
                  <a:pt x="0" y="10290503"/>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sp>
        <p:nvSpPr>
          <p:cNvPr id="40" name="TextBox 40"/>
          <p:cNvSpPr txBox="1"/>
          <p:nvPr/>
        </p:nvSpPr>
        <p:spPr>
          <a:xfrm>
            <a:off x="12192000" y="4492928"/>
            <a:ext cx="3551457"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Support multiple languages, local currencies, and region-specific salary norms for a worldwide audience.</a:t>
            </a:r>
          </a:p>
        </p:txBody>
      </p:sp>
      <p:grpSp>
        <p:nvGrpSpPr>
          <p:cNvPr id="41" name="Group 41"/>
          <p:cNvGrpSpPr/>
          <p:nvPr/>
        </p:nvGrpSpPr>
        <p:grpSpPr>
          <a:xfrm>
            <a:off x="12141717" y="6000272"/>
            <a:ext cx="3652023" cy="620555"/>
            <a:chOff x="0" y="0"/>
            <a:chExt cx="961850" cy="163438"/>
          </a:xfrm>
        </p:grpSpPr>
        <p:sp>
          <p:nvSpPr>
            <p:cNvPr id="42" name="Freeform 42"/>
            <p:cNvSpPr/>
            <p:nvPr/>
          </p:nvSpPr>
          <p:spPr>
            <a:xfrm>
              <a:off x="0" y="0"/>
              <a:ext cx="961850" cy="163438"/>
            </a:xfrm>
            <a:custGeom>
              <a:avLst/>
              <a:gdLst/>
              <a:ahLst/>
              <a:cxnLst/>
              <a:rect l="l" t="t" r="r" b="b"/>
              <a:pathLst>
                <a:path w="961850" h="163438">
                  <a:moveTo>
                    <a:pt x="81719" y="0"/>
                  </a:moveTo>
                  <a:lnTo>
                    <a:pt x="880131" y="0"/>
                  </a:lnTo>
                  <a:cubicBezTo>
                    <a:pt x="901804" y="0"/>
                    <a:pt x="922589" y="8610"/>
                    <a:pt x="937915" y="23935"/>
                  </a:cubicBezTo>
                  <a:cubicBezTo>
                    <a:pt x="953240" y="39260"/>
                    <a:pt x="961850" y="60046"/>
                    <a:pt x="961850" y="81719"/>
                  </a:cubicBezTo>
                  <a:lnTo>
                    <a:pt x="961850" y="81719"/>
                  </a:lnTo>
                  <a:cubicBezTo>
                    <a:pt x="961850" y="126851"/>
                    <a:pt x="925263" y="163438"/>
                    <a:pt x="880131" y="163438"/>
                  </a:cubicBezTo>
                  <a:lnTo>
                    <a:pt x="81719" y="163438"/>
                  </a:lnTo>
                  <a:cubicBezTo>
                    <a:pt x="36587" y="163438"/>
                    <a:pt x="0" y="126851"/>
                    <a:pt x="0" y="81719"/>
                  </a:cubicBezTo>
                  <a:lnTo>
                    <a:pt x="0" y="81719"/>
                  </a:lnTo>
                  <a:cubicBezTo>
                    <a:pt x="0" y="36587"/>
                    <a:pt x="36587" y="0"/>
                    <a:pt x="81719" y="0"/>
                  </a:cubicBezTo>
                  <a:close/>
                </a:path>
              </a:pathLst>
            </a:custGeom>
            <a:solidFill>
              <a:srgbClr val="FFFFFF"/>
            </a:solidFill>
          </p:spPr>
        </p:sp>
        <p:sp>
          <p:nvSpPr>
            <p:cNvPr id="43" name="TextBox 43"/>
            <p:cNvSpPr txBox="1"/>
            <p:nvPr/>
          </p:nvSpPr>
          <p:spPr>
            <a:xfrm>
              <a:off x="0" y="-38100"/>
              <a:ext cx="961850" cy="201538"/>
            </a:xfrm>
            <a:prstGeom prst="rect">
              <a:avLst/>
            </a:prstGeom>
          </p:spPr>
          <p:txBody>
            <a:bodyPr lIns="50800" tIns="50800" rIns="50800" bIns="50800" rtlCol="0" anchor="ctr"/>
            <a:lstStyle/>
            <a:p>
              <a:pPr algn="l">
                <a:lnSpc>
                  <a:spcPts val="2520"/>
                </a:lnSpc>
              </a:pPr>
              <a:endParaRPr/>
            </a:p>
          </p:txBody>
        </p:sp>
      </p:grpSp>
      <p:sp>
        <p:nvSpPr>
          <p:cNvPr id="44" name="TextBox 44"/>
          <p:cNvSpPr txBox="1"/>
          <p:nvPr/>
        </p:nvSpPr>
        <p:spPr>
          <a:xfrm>
            <a:off x="11971003" y="6096000"/>
            <a:ext cx="3652023" cy="365760"/>
          </a:xfrm>
          <a:prstGeom prst="rect">
            <a:avLst/>
          </a:prstGeom>
        </p:spPr>
        <p:txBody>
          <a:bodyPr lIns="0" tIns="0" rIns="0" bIns="0" rtlCol="0" anchor="t">
            <a:spAutoFit/>
          </a:bodyPr>
          <a:lstStyle/>
          <a:p>
            <a:pPr algn="ctr">
              <a:lnSpc>
                <a:spcPts val="2940"/>
              </a:lnSpc>
              <a:spcBef>
                <a:spcPct val="0"/>
              </a:spcBef>
            </a:pPr>
            <a:r>
              <a:rPr lang="en-US" sz="2100">
                <a:solidFill>
                  <a:srgbClr val="0D0D0D"/>
                </a:solidFill>
                <a:latin typeface="Neue Montreal"/>
                <a:ea typeface="Neue Montreal"/>
                <a:cs typeface="Neue Montreal"/>
                <a:sym typeface="Neue Montreal"/>
              </a:rPr>
              <a:t>Enterprise API Integration</a:t>
            </a:r>
          </a:p>
        </p:txBody>
      </p:sp>
      <p:sp>
        <p:nvSpPr>
          <p:cNvPr id="45" name="TextBox 45"/>
          <p:cNvSpPr txBox="1"/>
          <p:nvPr/>
        </p:nvSpPr>
        <p:spPr>
          <a:xfrm>
            <a:off x="12242283" y="6839902"/>
            <a:ext cx="3551457" cy="1249680"/>
          </a:xfrm>
          <a:prstGeom prst="rect">
            <a:avLst/>
          </a:prstGeom>
        </p:spPr>
        <p:txBody>
          <a:bodyPr lIns="0" tIns="0" rIns="0" bIns="0" rtlCol="0" anchor="t">
            <a:spAutoFit/>
          </a:bodyPr>
          <a:lstStyle/>
          <a:p>
            <a:pPr algn="l">
              <a:lnSpc>
                <a:spcPts val="2520"/>
              </a:lnSpc>
            </a:pPr>
            <a:r>
              <a:rPr lang="en-US" sz="1800">
                <a:solidFill>
                  <a:srgbClr val="0D0D0D"/>
                </a:solidFill>
                <a:latin typeface="Inter"/>
                <a:ea typeface="Inter"/>
                <a:cs typeface="Inter"/>
                <a:sym typeface="Inter"/>
              </a:rPr>
              <a:t>Develop endpoints and full-stack compatibility for seamless adoption in HRMS and business platforms.</a:t>
            </a:r>
          </a:p>
        </p:txBody>
      </p:sp>
    </p:spTree>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Freeform 2"/>
          <p:cNvSpPr/>
          <p:nvPr/>
        </p:nvSpPr>
        <p:spPr>
          <a:xfrm rot="-1519681">
            <a:off x="2747430" y="1322341"/>
            <a:ext cx="18571789" cy="9525780"/>
          </a:xfrm>
          <a:custGeom>
            <a:avLst/>
            <a:gdLst/>
            <a:ahLst/>
            <a:cxnLst/>
            <a:rect l="l" t="t" r="r" b="b"/>
            <a:pathLst>
              <a:path w="18571789" h="9525780">
                <a:moveTo>
                  <a:pt x="0" y="0"/>
                </a:moveTo>
                <a:lnTo>
                  <a:pt x="18571789" y="0"/>
                </a:lnTo>
                <a:lnTo>
                  <a:pt x="18571789" y="9525780"/>
                </a:lnTo>
                <a:lnTo>
                  <a:pt x="0" y="952578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sp>
        <p:nvSpPr>
          <p:cNvPr id="3" name="Freeform 3"/>
          <p:cNvSpPr/>
          <p:nvPr/>
        </p:nvSpPr>
        <p:spPr>
          <a:xfrm rot="-207148">
            <a:off x="-3858935" y="-4932837"/>
            <a:ext cx="18571789" cy="9525780"/>
          </a:xfrm>
          <a:custGeom>
            <a:avLst/>
            <a:gdLst/>
            <a:ahLst/>
            <a:cxnLst/>
            <a:rect l="l" t="t" r="r" b="b"/>
            <a:pathLst>
              <a:path w="18571789" h="9525780">
                <a:moveTo>
                  <a:pt x="0" y="0"/>
                </a:moveTo>
                <a:lnTo>
                  <a:pt x="18571789" y="0"/>
                </a:lnTo>
                <a:lnTo>
                  <a:pt x="18571789" y="9525780"/>
                </a:lnTo>
                <a:lnTo>
                  <a:pt x="0" y="9525780"/>
                </a:lnTo>
                <a:lnTo>
                  <a:pt x="0" y="0"/>
                </a:lnTo>
                <a:close/>
              </a:path>
            </a:pathLst>
          </a:custGeom>
          <a:blipFill>
            <a:blip r:embed="rId2">
              <a:alphaModFix amt="15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4275761" y="8745397"/>
            <a:ext cx="240861" cy="24086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7" name="Freeform 7"/>
          <p:cNvSpPr/>
          <p:nvPr/>
        </p:nvSpPr>
        <p:spPr>
          <a:xfrm>
            <a:off x="1028700" y="1028700"/>
            <a:ext cx="694676" cy="784945"/>
          </a:xfrm>
          <a:custGeom>
            <a:avLst/>
            <a:gdLst/>
            <a:ahLst/>
            <a:cxnLst/>
            <a:rect l="l" t="t" r="r" b="b"/>
            <a:pathLst>
              <a:path w="694676" h="784945">
                <a:moveTo>
                  <a:pt x="0" y="0"/>
                </a:moveTo>
                <a:lnTo>
                  <a:pt x="694676" y="0"/>
                </a:lnTo>
                <a:lnTo>
                  <a:pt x="694676" y="784945"/>
                </a:lnTo>
                <a:lnTo>
                  <a:pt x="0" y="7849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11044405" y="1244414"/>
            <a:ext cx="6462712" cy="6462712"/>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l="-25046" r="-25046"/>
              </a:stretch>
            </a:blipFill>
          </p:spPr>
        </p:sp>
      </p:grpSp>
      <p:sp>
        <p:nvSpPr>
          <p:cNvPr id="10" name="TextBox 10"/>
          <p:cNvSpPr txBox="1"/>
          <p:nvPr/>
        </p:nvSpPr>
        <p:spPr>
          <a:xfrm>
            <a:off x="402138" y="2638718"/>
            <a:ext cx="10394450" cy="801959"/>
          </a:xfrm>
          <a:prstGeom prst="rect">
            <a:avLst/>
          </a:prstGeom>
        </p:spPr>
        <p:txBody>
          <a:bodyPr lIns="0" tIns="0" rIns="0" bIns="0" rtlCol="0" anchor="t">
            <a:spAutoFit/>
          </a:bodyPr>
          <a:lstStyle/>
          <a:p>
            <a:pPr algn="l">
              <a:lnSpc>
                <a:spcPts val="3659"/>
              </a:lnSpc>
            </a:pPr>
            <a:r>
              <a:rPr lang="en-US" sz="4066" b="1">
                <a:solidFill>
                  <a:srgbClr val="FFFFFF"/>
                </a:solidFill>
                <a:latin typeface="Neue Montreal Bold"/>
                <a:ea typeface="Neue Montreal Bold"/>
                <a:cs typeface="Neue Montreal Bold"/>
                <a:sym typeface="Neue Montreal Bold"/>
              </a:rPr>
              <a:t>Project Link:</a:t>
            </a:r>
          </a:p>
          <a:p>
            <a:pPr algn="l">
              <a:lnSpc>
                <a:spcPts val="2588"/>
              </a:lnSpc>
            </a:pPr>
            <a:endParaRPr lang="en-US" sz="4066" b="1">
              <a:solidFill>
                <a:srgbClr val="FFFFFF"/>
              </a:solidFill>
              <a:latin typeface="Neue Montreal Bold"/>
              <a:ea typeface="Neue Montreal Bold"/>
              <a:cs typeface="Neue Montreal Bold"/>
              <a:sym typeface="Neue Montreal Bold"/>
            </a:endParaRPr>
          </a:p>
        </p:txBody>
      </p:sp>
      <p:sp>
        <p:nvSpPr>
          <p:cNvPr id="11" name="TextBox 11"/>
          <p:cNvSpPr txBox="1"/>
          <p:nvPr/>
        </p:nvSpPr>
        <p:spPr>
          <a:xfrm>
            <a:off x="2043076" y="1151962"/>
            <a:ext cx="3495749" cy="481271"/>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FFFFFF"/>
                </a:solidFill>
                <a:latin typeface="Neue Montreal Bold"/>
                <a:ea typeface="Neue Montreal Bold"/>
                <a:cs typeface="Neue Montreal Bold"/>
                <a:sym typeface="Neue Montreal Bold"/>
              </a:rPr>
              <a:t>Salary Prediction</a:t>
            </a:r>
          </a:p>
        </p:txBody>
      </p:sp>
      <p:sp>
        <p:nvSpPr>
          <p:cNvPr id="12" name="TextBox 12"/>
          <p:cNvSpPr txBox="1"/>
          <p:nvPr/>
        </p:nvSpPr>
        <p:spPr>
          <a:xfrm>
            <a:off x="402138" y="2867085"/>
            <a:ext cx="10480051" cy="809505"/>
          </a:xfrm>
          <a:prstGeom prst="rect">
            <a:avLst/>
          </a:prstGeom>
        </p:spPr>
        <p:txBody>
          <a:bodyPr lIns="0" tIns="0" rIns="0" bIns="0" rtlCol="0" anchor="t">
            <a:spAutoFit/>
          </a:bodyPr>
          <a:lstStyle/>
          <a:p>
            <a:pPr algn="l">
              <a:lnSpc>
                <a:spcPts val="3689"/>
              </a:lnSpc>
            </a:pPr>
            <a:endParaRPr dirty="0"/>
          </a:p>
          <a:p>
            <a:pPr>
              <a:lnSpc>
                <a:spcPts val="2609"/>
              </a:lnSpc>
            </a:pPr>
            <a:r>
              <a:rPr lang="en-US" sz="2899" dirty="0">
                <a:solidFill>
                  <a:srgbClr val="FFFFFF"/>
                </a:solidFill>
                <a:latin typeface="Neue Montreal"/>
                <a:ea typeface="Neue Montreal"/>
                <a:cs typeface="Neue Montreal"/>
                <a:sym typeface="Neue Montreal"/>
              </a:rPr>
              <a:t>https://github.com/amitx22/SALARY_PREDICTION_APP</a:t>
            </a:r>
          </a:p>
        </p:txBody>
      </p:sp>
      <p:sp>
        <p:nvSpPr>
          <p:cNvPr id="13" name="TextBox 13"/>
          <p:cNvSpPr txBox="1"/>
          <p:nvPr/>
        </p:nvSpPr>
        <p:spPr>
          <a:xfrm>
            <a:off x="402138" y="4076820"/>
            <a:ext cx="10480051" cy="975239"/>
          </a:xfrm>
          <a:prstGeom prst="rect">
            <a:avLst/>
          </a:prstGeom>
        </p:spPr>
        <p:txBody>
          <a:bodyPr lIns="0" tIns="0" rIns="0" bIns="0" rtlCol="0" anchor="t">
            <a:spAutoFit/>
          </a:bodyPr>
          <a:lstStyle/>
          <a:p>
            <a:pPr algn="l">
              <a:lnSpc>
                <a:spcPts val="3689"/>
              </a:lnSpc>
            </a:pPr>
            <a:endParaRPr lang="en-US" sz="4099" b="1" dirty="0">
              <a:solidFill>
                <a:srgbClr val="FFFFFF"/>
              </a:solidFill>
              <a:latin typeface="Neue Montreal Bold"/>
              <a:ea typeface="Neue Montreal Bold"/>
              <a:cs typeface="Neue Montreal Bold"/>
              <a:sym typeface="Neue Montreal Bold"/>
            </a:endParaRPr>
          </a:p>
          <a:p>
            <a:pPr algn="l">
              <a:lnSpc>
                <a:spcPts val="3689"/>
              </a:lnSpc>
            </a:pPr>
            <a:endParaRPr lang="en-US" sz="4099" b="1" dirty="0">
              <a:solidFill>
                <a:srgbClr val="FFFFFF"/>
              </a:solidFill>
              <a:latin typeface="Neue Montreal Bold"/>
              <a:ea typeface="Neue Montreal Bold"/>
              <a:cs typeface="Neue Montreal Bold"/>
              <a:sym typeface="Neue Montreal Bold"/>
            </a:endParaRPr>
          </a:p>
        </p:txBody>
      </p:sp>
      <p:sp>
        <p:nvSpPr>
          <p:cNvPr id="14" name="TextBox 14"/>
          <p:cNvSpPr txBox="1"/>
          <p:nvPr/>
        </p:nvSpPr>
        <p:spPr>
          <a:xfrm>
            <a:off x="402138" y="4267380"/>
            <a:ext cx="10480051" cy="416781"/>
          </a:xfrm>
          <a:prstGeom prst="rect">
            <a:avLst/>
          </a:prstGeom>
        </p:spPr>
        <p:txBody>
          <a:bodyPr lIns="0" tIns="0" rIns="0" bIns="0" rtlCol="0" anchor="t">
            <a:spAutoFit/>
          </a:bodyPr>
          <a:lstStyle/>
          <a:p>
            <a:pPr algn="l">
              <a:lnSpc>
                <a:spcPts val="3689"/>
              </a:lnSpc>
            </a:pPr>
            <a:endParaRPr dirty="0"/>
          </a:p>
        </p:txBody>
      </p:sp>
      <p:sp>
        <p:nvSpPr>
          <p:cNvPr id="15" name="TextBox 15"/>
          <p:cNvSpPr txBox="1"/>
          <p:nvPr/>
        </p:nvSpPr>
        <p:spPr>
          <a:xfrm>
            <a:off x="440445" y="4213981"/>
            <a:ext cx="10480051" cy="975239"/>
          </a:xfrm>
          <a:prstGeom prst="rect">
            <a:avLst/>
          </a:prstGeom>
        </p:spPr>
        <p:txBody>
          <a:bodyPr lIns="0" tIns="0" rIns="0" bIns="0" rtlCol="0" anchor="t">
            <a:spAutoFit/>
          </a:bodyPr>
          <a:lstStyle/>
          <a:p>
            <a:pPr algn="l">
              <a:lnSpc>
                <a:spcPts val="3689"/>
              </a:lnSpc>
            </a:pPr>
            <a:r>
              <a:rPr lang="en-US" sz="4099" b="1" dirty="0">
                <a:solidFill>
                  <a:srgbClr val="FFFFFF"/>
                </a:solidFill>
                <a:latin typeface="Neue Montreal Bold"/>
                <a:ea typeface="Neue Montreal Bold"/>
                <a:cs typeface="Neue Montreal Bold"/>
                <a:sym typeface="Neue Montreal Bold"/>
              </a:rPr>
              <a:t>Demo Link:</a:t>
            </a:r>
          </a:p>
          <a:p>
            <a:pPr algn="l">
              <a:lnSpc>
                <a:spcPts val="3689"/>
              </a:lnSpc>
            </a:pPr>
            <a:endParaRPr lang="en-US" sz="4099" b="1" dirty="0">
              <a:solidFill>
                <a:srgbClr val="FFFFFF"/>
              </a:solidFill>
              <a:latin typeface="Neue Montreal Bold"/>
              <a:ea typeface="Neue Montreal Bold"/>
              <a:cs typeface="Neue Montreal Bold"/>
              <a:sym typeface="Neue Montreal Bold"/>
            </a:endParaRPr>
          </a:p>
        </p:txBody>
      </p:sp>
      <p:sp>
        <p:nvSpPr>
          <p:cNvPr id="16" name="TextBox 16"/>
          <p:cNvSpPr txBox="1"/>
          <p:nvPr/>
        </p:nvSpPr>
        <p:spPr>
          <a:xfrm>
            <a:off x="483246" y="4464668"/>
            <a:ext cx="10480051" cy="1133474"/>
          </a:xfrm>
          <a:prstGeom prst="rect">
            <a:avLst/>
          </a:prstGeom>
        </p:spPr>
        <p:txBody>
          <a:bodyPr lIns="0" tIns="0" rIns="0" bIns="0" rtlCol="0" anchor="t">
            <a:spAutoFit/>
          </a:bodyPr>
          <a:lstStyle/>
          <a:p>
            <a:pPr algn="l">
              <a:lnSpc>
                <a:spcPts val="3689"/>
              </a:lnSpc>
            </a:pPr>
            <a:endParaRPr dirty="0"/>
          </a:p>
          <a:p>
            <a:pPr algn="just">
              <a:lnSpc>
                <a:spcPts val="2609"/>
              </a:lnSpc>
            </a:pPr>
            <a:r>
              <a:rPr lang="en-US" sz="2899" dirty="0">
                <a:solidFill>
                  <a:srgbClr val="FFFFFF"/>
                </a:solidFill>
                <a:latin typeface="Neue Montreal"/>
                <a:ea typeface="Neue Montreal"/>
                <a:cs typeface="Neue Montreal"/>
                <a:sym typeface="Neue Montreal"/>
              </a:rPr>
              <a:t>https://youtu.be/gC6SL7TDIBU</a:t>
            </a:r>
          </a:p>
          <a:p>
            <a:pPr algn="just">
              <a:lnSpc>
                <a:spcPts val="2609"/>
              </a:lnSpc>
            </a:pPr>
            <a:endParaRPr lang="en-US" sz="2899" dirty="0">
              <a:solidFill>
                <a:srgbClr val="FFFFFF"/>
              </a:solidFill>
              <a:latin typeface="Neue Montreal"/>
              <a:ea typeface="Neue Montreal"/>
              <a:cs typeface="Neue Montreal"/>
              <a:sym typeface="Neue Montreal"/>
            </a:endParaRPr>
          </a:p>
        </p:txBody>
      </p:sp>
      <p:sp>
        <p:nvSpPr>
          <p:cNvPr id="21" name="TextBox 20">
            <a:extLst>
              <a:ext uri="{FF2B5EF4-FFF2-40B4-BE49-F238E27FC236}">
                <a16:creationId xmlns:a16="http://schemas.microsoft.com/office/drawing/2014/main" id="{232AB6CE-87A2-551B-976B-0B4D22A2F0FD}"/>
              </a:ext>
            </a:extLst>
          </p:cNvPr>
          <p:cNvSpPr txBox="1"/>
          <p:nvPr/>
        </p:nvSpPr>
        <p:spPr>
          <a:xfrm>
            <a:off x="483246" y="7856220"/>
            <a:ext cx="4572000" cy="923330"/>
          </a:xfrm>
          <a:prstGeom prst="rect">
            <a:avLst/>
          </a:prstGeom>
          <a:noFill/>
        </p:spPr>
        <p:txBody>
          <a:bodyPr wrap="square" rtlCol="0">
            <a:spAutoFit/>
          </a:bodyPr>
          <a:lstStyle/>
          <a:p>
            <a:r>
              <a:rPr lang="en-US" sz="5400" b="1" dirty="0">
                <a:solidFill>
                  <a:schemeClr val="bg1"/>
                </a:solidFill>
              </a:rPr>
              <a:t>Thank You</a:t>
            </a:r>
            <a:r>
              <a:rPr lang="en-US" sz="5400" b="1" dirty="0"/>
              <a:t>a</a:t>
            </a:r>
            <a:endParaRPr lang="en-IN" sz="5400" b="1" dirty="0"/>
          </a:p>
        </p:txBody>
      </p:sp>
    </p:spTree>
  </p:cSld>
  <p:clrMapOvr>
    <a:masterClrMapping/>
  </p:clrMapOvr>
  <p:transition>
    <p:wipe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825</Words>
  <Application>Microsoft Office PowerPoint</Application>
  <PresentationFormat>Custom</PresentationFormat>
  <Paragraphs>105</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Neue Montreal</vt:lpstr>
      <vt:lpstr>Arial</vt:lpstr>
      <vt:lpstr>Avenir</vt:lpstr>
      <vt:lpstr>Neue Montreal Bold</vt:lpstr>
      <vt:lpstr>Inter</vt:lpstr>
      <vt:lpstr>Open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Salary Prediction</dc:title>
  <dc:creator>Amit kumar Singh</dc:creator>
  <cp:lastModifiedBy>Amit kumar Singh</cp:lastModifiedBy>
  <cp:revision>2</cp:revision>
  <dcterms:created xsi:type="dcterms:W3CDTF">2006-08-16T00:00:00Z</dcterms:created>
  <dcterms:modified xsi:type="dcterms:W3CDTF">2025-11-15T07:51:58Z</dcterms:modified>
  <dc:identifier>DAG4aCMe460</dc:identifier>
</cp:coreProperties>
</file>